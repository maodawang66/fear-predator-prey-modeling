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png" ContentType="image/png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4edd77cdaaf3e3ba.png"/>
  <Relationship Id="rId3" Type="http://schemas.openxmlformats.org/officeDocument/2006/relationships/image" Target="../media/image_b8a9a4b54f9b235c.png"/>
  <Relationship Id="rId4" Type="http://schemas.openxmlformats.org/officeDocument/2006/relationships/image" Target="../media/image_68b7d2a55ed5489f.png"/>
  <Relationship Id="rId5" Type="http://schemas.openxmlformats.org/officeDocument/2006/relationships/image" Target="../media/image_b50dd682819d8e95.png"/>
</Relationships>
</file>

<file path=ppt/slides/_rels/slide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4eddd87761fe91de.png"/>
</Relationships>
</file>

<file path=ppt/slides/_rels/slide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5476ccaa5d8cbcbc.png"/>
</Relationships>
</file>

<file path=ppt/slides/_rels/slide7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8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f021caf963f0779d.png"/>
  <Relationship Id="rId3" Type="http://schemas.openxmlformats.org/officeDocument/2006/relationships/image" Target="../media/image_4ae7ece1684bc556.png"/>
  <Relationship Id="rId4" Type="http://schemas.openxmlformats.org/officeDocument/2006/relationships/image" Target="../media/image_e8dff5a4ae068d1c.png"/>
</Relationships>
</file>

<file path=ppt/slides/_rels/slide9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8498dfa15a80a425.png"/>
</Relationships>
</file>

<file path=ppt/slides/_rels/slide10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bd286098f0026d9f.png"/>
  <Relationship Id="rId3" Type="http://schemas.openxmlformats.org/officeDocument/2006/relationships/image" Target="../media/image_c2bb73bdadeb629c.png"/>
  <Relationship Id="rId4" Type="http://schemas.openxmlformats.org/officeDocument/2006/relationships/image" Target="../media/image_2cfdbdd3e7ca4075.png"/>
</Relationships>
</file>

<file path=ppt/slides/_rels/slide1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a7ec0454fc176194.png"/>
  <Relationship Id="rId3" Type="http://schemas.openxmlformats.org/officeDocument/2006/relationships/image" Target="../media/image_7fa3e2a0a6747135.png"/>
</Relationships>
</file>

<file path=ppt/slides/_rels/slide1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1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1B3A5C"/>
              </a:gs>
              <a:gs pos="100000">
                <a:srgbClr val="0F2440"/>
              </a:gs>
            </a:gsLst>
            <a:lin ang="2700000" scaled="1"/>
          </a:gra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7620000" y="-1428750"/>
            <a:ext cx="5715000" cy="5715000"/>
          </a:xfrm>
          <a:prstGeom prst="ellipse">
            <a:avLst/>
          </a:prstGeom>
          <a:solidFill>
            <a:srgbClr val="2563A0">
              <a:alpha val="8000"/>
            </a:srgbClr>
          </a:solidFill>
          <a:ln>
            <a:noFill/>
          </a:ln>
        </p:spPr>
      </p:sp>
      <p:sp>
        <p:nvSpPr>
          <p:cNvPr id="4" name="Ellipse 4"/>
          <p:cNvSpPr/>
          <p:nvPr/>
        </p:nvSpPr>
        <p:spPr>
          <a:xfrm>
            <a:off x="9048750" y="-762000"/>
            <a:ext cx="3810000" cy="3810000"/>
          </a:xfrm>
          <a:prstGeom prst="ellipse">
            <a:avLst/>
          </a:prstGeom>
          <a:solidFill>
            <a:srgbClr val="4A90B8">
              <a:alpha val="6000"/>
            </a:srgbClr>
          </a:solidFill>
          <a:ln>
            <a:noFill/>
          </a:ln>
        </p:spPr>
      </p:sp>
      <p:sp>
        <p:nvSpPr>
          <p:cNvPr id="5" name="Rectangle 5"/>
          <p:cNvSpPr/>
          <p:nvPr/>
        </p:nvSpPr>
        <p:spPr>
          <a:xfrm>
            <a:off x="0" y="5905500"/>
            <a:ext cx="3810000" cy="38100"/>
          </a:xfrm>
          <a:prstGeom prst="rect">
            <a:avLst/>
          </a:prstGeom>
          <a:gradFill>
            <a:gsLst>
              <a:gs pos="0">
                <a:srgbClr val="2563A0"/>
              </a:gs>
              <a:gs pos="100000">
                <a:srgbClr val="4A90B8"/>
              </a:gs>
            </a:gsLst>
            <a:lin ang="0" scaled="1"/>
          </a:gra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3837384" y="2023110"/>
            <a:ext cx="4517231" cy="8534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4200" b="1" dirty="0">
                <a:solidFill>
                  <a:srgbClr val="FFFFFF"/>
                </a:solidFill>
                <a:latin typeface="Georgia"/>
                <a:ea typeface="SimSun"/>
                <a:cs typeface="Georgia"/>
              </a:rPr>
              <a:t>恐 惧 效 应 下 的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3352224" y="2785110"/>
            <a:ext cx="5487553" cy="8534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4200" b="1" dirty="0">
                <a:solidFill>
                  <a:srgbClr val="FFFFFF"/>
                </a:solidFill>
                <a:latin typeface="Georgia"/>
                <a:ea typeface="SimSun"/>
                <a:cs typeface="Georgia"/>
              </a:rPr>
              <a:t>捕食者 — 猎物动力学</a:t>
            </a:r>
          </a:p>
        </p:txBody>
      </p:sp>
      <p:sp>
        <p:nvSpPr>
          <p:cNvPr id="8" name="Rectangle 8"/>
          <p:cNvSpPr/>
          <p:nvPr/>
        </p:nvSpPr>
        <p:spPr>
          <a:xfrm>
            <a:off x="4667250" y="3571875"/>
            <a:ext cx="2857500" cy="28575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2563A0"/>
              </a:gs>
              <a:gs pos="100000">
                <a:srgbClr val="4A90B8"/>
              </a:gs>
            </a:gsLst>
            <a:lin ang="0" scaled="1"/>
          </a:gra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3720846" y="3901440"/>
            <a:ext cx="4750308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dirty="0">
                <a:solidFill>
                  <a:srgbClr val="94A3B8"/>
                </a:solidFill>
                <a:latin typeface="Noto Sans CJK SC"/>
                <a:ea typeface="Microsoft YaHei"/>
                <a:cs typeface="Noto Sans CJK SC"/>
              </a:rPr>
              <a:t>机 制 路 径 · 预 测 比 较 · 参 数 可 辨 识 性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4946809" y="4886325"/>
            <a:ext cx="2298382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dirty="0">
                <a:solidFill>
                  <a:srgbClr val="CBD5E1"/>
                </a:solidFill>
                <a:latin typeface="Noto Sans CJK SC"/>
                <a:ea typeface="Microsoft YaHei"/>
                <a:cs typeface="Noto Sans CJK SC"/>
              </a:rPr>
              <a:t>贺小轩 · 李松茂 · 王玉麟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5132641" y="5252085"/>
            <a:ext cx="1926717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64748B"/>
                </a:solidFill>
                <a:latin typeface="Noto Sans CJK SC"/>
                <a:ea typeface="Microsoft YaHei"/>
                <a:cs typeface="Noto Sans CJK SC"/>
              </a:rPr>
              <a:t>USTC 数学建模课程 · 2026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B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571500" y="428625"/>
            <a:ext cx="38100" cy="38100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2563A0"/>
              </a:gs>
              <a:gs pos="100000">
                <a:srgbClr val="1B3A5C"/>
              </a:gs>
            </a:gsLst>
            <a:lin ang="5400000" scaled="1"/>
          </a:gra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693420" y="455295"/>
            <a:ext cx="733044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1B3A5C"/>
                </a:solidFill>
                <a:latin typeface="Georgia"/>
                <a:ea typeface="SimSun"/>
                <a:cs typeface="Georgia"/>
              </a:rPr>
              <a:t>目录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10565" y="820102"/>
            <a:ext cx="67075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94A3B8"/>
                </a:solidFill>
                <a:latin typeface="Noto Sans CJK SC"/>
                <a:ea typeface="Microsoft YaHei"/>
                <a:cs typeface="Noto Sans CJK SC"/>
              </a:rPr>
              <a:t>CONTENTS</a:t>
            </a:r>
          </a:p>
        </p:txBody>
      </p:sp>
      <p:sp>
        <p:nvSpPr>
          <p:cNvPr id="6" name="Line 6"/>
          <p:cNvSpPr/>
          <p:nvPr/>
        </p:nvSpPr>
        <p:spPr>
          <a:xfrm>
            <a:off x="571500" y="1095375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CBD5E1"/>
            </a:solidFill>
          </a:ln>
        </p:spPr>
      </p:sp>
      <p:grpSp>
        <p:nvGrpSpPr>
          <p:cNvPr id="11" name="Group 11"/>
          <p:cNvGrpSpPr/>
          <p:nvPr/>
        </p:nvGrpSpPr>
        <p:grpSpPr>
          <a:xfrm>
            <a:off x="952500" y="1571625"/>
            <a:ext cx="4953000" cy="952500"/>
            <a:chOff x="952500" y="1571625"/>
            <a:chExt cx="4953000" cy="952500"/>
          </a:xfrm>
        </p:grpSpPr>
        <p:sp>
          <p:nvSpPr>
            <p:cNvPr id="7" name="Rectangle 7"/>
            <p:cNvSpPr/>
            <p:nvPr/>
          </p:nvSpPr>
          <p:spPr>
            <a:xfrm>
              <a:off x="952500" y="1571625"/>
              <a:ext cx="4953000" cy="952500"/>
            </a:xfrm>
            <a:prstGeom prst="roundRect">
              <a:avLst>
                <a:gd name="adj" fmla="val 8000"/>
              </a:avLst>
            </a:prstGeom>
            <a:solidFill>
              <a:srgbClr val="F0F3F7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203960" y="1613535"/>
              <a:ext cx="484432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2563A0"/>
                  </a:solidFill>
                  <a:latin typeface="Georgia"/>
                  <a:ea typeface="SimSun"/>
                  <a:cs typeface="Georgia"/>
                </a:rPr>
                <a:t>01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788795" y="1726882"/>
              <a:ext cx="1659112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E293B"/>
                  </a:solidFill>
                  <a:latin typeface="Noto Sans CJK SC"/>
                  <a:ea typeface="Microsoft YaHei"/>
                  <a:cs typeface="Noto Sans CJK SC"/>
                </a:rPr>
                <a:t>研究背景与模型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796415" y="2077402"/>
              <a:ext cx="265199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4748B"/>
                  </a:solidFill>
                  <a:latin typeface="Noto Sans CJK SC"/>
                  <a:ea typeface="Microsoft YaHei"/>
                  <a:cs typeface="Noto Sans CJK SC"/>
                </a:rPr>
                <a:t>核心问题 · 三种 ODE 体系 · 六种恐惧机制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6286500" y="1571625"/>
            <a:ext cx="4953000" cy="952500"/>
            <a:chOff x="6286500" y="1571625"/>
            <a:chExt cx="4953000" cy="952500"/>
          </a:xfrm>
        </p:grpSpPr>
        <p:sp>
          <p:nvSpPr>
            <p:cNvPr id="12" name="Rectangle 12"/>
            <p:cNvSpPr/>
            <p:nvPr/>
          </p:nvSpPr>
          <p:spPr>
            <a:xfrm>
              <a:off x="6286500" y="1571625"/>
              <a:ext cx="4953000" cy="952500"/>
            </a:xfrm>
            <a:prstGeom prst="roundRect">
              <a:avLst>
                <a:gd name="adj" fmla="val 8000"/>
              </a:avLst>
            </a:prstGeom>
            <a:solidFill>
              <a:srgbClr val="F0F3F7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537960" y="1613535"/>
              <a:ext cx="484432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2563A0"/>
                  </a:solidFill>
                  <a:latin typeface="Georgia"/>
                  <a:ea typeface="SimSun"/>
                  <a:cs typeface="Georgia"/>
                </a:rPr>
                <a:t>02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122795" y="1726882"/>
              <a:ext cx="2352199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E293B"/>
                  </a:solidFill>
                  <a:latin typeface="Noto Sans CJK SC"/>
                  <a:ea typeface="Microsoft YaHei"/>
                  <a:cs typeface="Noto Sans CJK SC"/>
                </a:rPr>
                <a:t>动力学分析与机制比较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130415" y="2077402"/>
              <a:ext cx="228795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4748B"/>
                  </a:solidFill>
                  <a:latin typeface="Noto Sans CJK SC"/>
                  <a:ea typeface="Microsoft YaHei"/>
                  <a:cs typeface="Noto Sans CJK SC"/>
                </a:rPr>
                <a:t>φ 扫描 · 机制路径依赖性 · 等效抑制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952500" y="2905125"/>
            <a:ext cx="4953000" cy="952500"/>
            <a:chOff x="952500" y="2905125"/>
            <a:chExt cx="4953000" cy="952500"/>
          </a:xfrm>
        </p:grpSpPr>
        <p:sp>
          <p:nvSpPr>
            <p:cNvPr id="17" name="Rectangle 17"/>
            <p:cNvSpPr/>
            <p:nvPr/>
          </p:nvSpPr>
          <p:spPr>
            <a:xfrm>
              <a:off x="952500" y="2905125"/>
              <a:ext cx="4953000" cy="952500"/>
            </a:xfrm>
            <a:prstGeom prst="roundRect">
              <a:avLst>
                <a:gd name="adj" fmla="val 8000"/>
              </a:avLst>
            </a:prstGeom>
            <a:solidFill>
              <a:srgbClr val="F0F3F7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1203960" y="2947035"/>
              <a:ext cx="484432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2563A0"/>
                  </a:solidFill>
                  <a:latin typeface="Georgia"/>
                  <a:ea typeface="SimSun"/>
                  <a:cs typeface="Georgia"/>
                </a:rPr>
                <a:t>03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788795" y="3060382"/>
              <a:ext cx="2121170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E293B"/>
                  </a:solidFill>
                  <a:latin typeface="Noto Sans CJK SC"/>
                  <a:ea typeface="Microsoft YaHei"/>
                  <a:cs typeface="Noto Sans CJK SC"/>
                </a:rPr>
                <a:t>真实数据拟合与预测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796415" y="3410902"/>
              <a:ext cx="252598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4748B"/>
                  </a:solidFill>
                  <a:latin typeface="Noto Sans CJK SC"/>
                  <a:ea typeface="Microsoft YaHei"/>
                  <a:cs typeface="Noto Sans CJK SC"/>
                </a:rPr>
                <a:t>15 条序列 · 三模型 · 七模型 · 留后验证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6286500" y="2905125"/>
            <a:ext cx="4953000" cy="952500"/>
            <a:chOff x="6286500" y="2905125"/>
            <a:chExt cx="4953000" cy="952500"/>
          </a:xfrm>
        </p:grpSpPr>
        <p:sp>
          <p:nvSpPr>
            <p:cNvPr id="22" name="Rectangle 22"/>
            <p:cNvSpPr/>
            <p:nvPr/>
          </p:nvSpPr>
          <p:spPr>
            <a:xfrm>
              <a:off x="6286500" y="2905125"/>
              <a:ext cx="4953000" cy="952500"/>
            </a:xfrm>
            <a:prstGeom prst="roundRect">
              <a:avLst>
                <a:gd name="adj" fmla="val 8000"/>
              </a:avLst>
            </a:prstGeom>
            <a:solidFill>
              <a:srgbClr val="F0F3F7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537960" y="2947035"/>
              <a:ext cx="484432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2563A0"/>
                  </a:solidFill>
                  <a:latin typeface="Georgia"/>
                  <a:ea typeface="SimSun"/>
                  <a:cs typeface="Georgia"/>
                </a:rPr>
                <a:t>04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122795" y="3060382"/>
              <a:ext cx="2121170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E293B"/>
                  </a:solidFill>
                  <a:latin typeface="Noto Sans CJK SC"/>
                  <a:ea typeface="Microsoft YaHei"/>
                  <a:cs typeface="Noto Sans CJK SC"/>
                </a:rPr>
                <a:t>参数可辨识性与结论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130415" y="3410902"/>
              <a:ext cx="275701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4748B"/>
                  </a:solidFill>
                  <a:latin typeface="Noto Sans CJK SC"/>
                  <a:ea typeface="Microsoft YaHei"/>
                  <a:cs typeface="Noto Sans CJK SC"/>
                </a:rPr>
                <a:t>k profile · 跨系统 η · 预测改善 ≠ 机制识别</a:t>
              </a:r>
            </a:p>
          </p:txBody>
        </p:sp>
      </p:grpSp>
      <p:sp>
        <p:nvSpPr>
          <p:cNvPr id="27" name="Rectangle 27"/>
          <p:cNvSpPr/>
          <p:nvPr/>
        </p:nvSpPr>
        <p:spPr>
          <a:xfrm>
            <a:off x="6096000" y="5905500"/>
            <a:ext cx="1143000" cy="19050"/>
          </a:xfrm>
          <a:prstGeom prst="roundRect">
            <a:avLst>
              <a:gd name="adj" fmla="val 50000"/>
            </a:avLst>
          </a:prstGeom>
          <a:solidFill>
            <a:srgbClr val="CBD5E1"/>
          </a:solidFill>
          <a:ln>
            <a:noFill/>
          </a:ln>
        </p:spPr>
      </p:sp>
      <p:sp>
        <p:nvSpPr>
          <p:cNvPr id="28" name="TextBox 28"/>
          <p:cNvSpPr txBox="1"/>
          <p:nvPr/>
        </p:nvSpPr>
        <p:spPr>
          <a:xfrm>
            <a:off x="11241476" y="6483191"/>
            <a:ext cx="389501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94A3B8"/>
                </a:solidFill>
                <a:latin typeface="Noto Sans CJK SC"/>
                <a:ea typeface="Microsoft YaHei"/>
                <a:cs typeface="Noto Sans CJK SC"/>
              </a:rPr>
              <a:t>02 / 13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B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571500" y="381000"/>
            <a:ext cx="38100" cy="342900"/>
          </a:xfrm>
          <a:prstGeom prst="roundRect">
            <a:avLst>
              <a:gd name="adj" fmla="val 50000"/>
            </a:avLst>
          </a:prstGeom>
          <a:solidFill>
            <a:srgbClr val="1B3A5C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693420" y="369570"/>
            <a:ext cx="3085338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1B3A5C"/>
                </a:solidFill>
                <a:latin typeface="Noto Sans CJK SC"/>
                <a:ea typeface="Microsoft YaHei"/>
                <a:cs typeface="Noto Sans CJK SC"/>
              </a:rPr>
              <a:t>研究背景与核心问题</a:t>
            </a:r>
          </a:p>
        </p:txBody>
      </p:sp>
      <p:sp>
        <p:nvSpPr>
          <p:cNvPr id="5" name="Line 5"/>
          <p:cNvSpPr/>
          <p:nvPr/>
        </p:nvSpPr>
        <p:spPr>
          <a:xfrm>
            <a:off x="571500" y="904875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CBD5E1"/>
            </a:solidFill>
          </a:ln>
        </p:spPr>
      </p:sp>
      <p:sp>
        <p:nvSpPr>
          <p:cNvPr id="6" name="Rectangle 6"/>
          <p:cNvSpPr/>
          <p:nvPr/>
        </p:nvSpPr>
        <p:spPr>
          <a:xfrm>
            <a:off x="952500" y="1238250"/>
            <a:ext cx="10287000" cy="762000"/>
          </a:xfrm>
          <a:prstGeom prst="roundRect">
            <a:avLst>
              <a:gd name="adj" fmla="val 10000"/>
            </a:avLst>
          </a:prstGeom>
          <a:solidFill>
            <a:srgbClr val="F0F3F7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1219200" y="1381125"/>
            <a:ext cx="443865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1E293B"/>
                </a:solidFill>
                <a:latin typeface="Noto Sans CJK SC"/>
                <a:ea typeface="Microsoft YaHei"/>
                <a:cs typeface="Noto Sans CJK SC"/>
              </a:rPr>
              <a:t>捕食者不仅通过直接捕食减少猎物数量，还会通过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219200" y="1666875"/>
            <a:ext cx="16383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1E293B"/>
                </a:solidFill>
                <a:latin typeface="Noto Sans CJK SC"/>
                <a:ea typeface="Microsoft YaHei"/>
                <a:cs typeface="Noto Sans CJK SC"/>
              </a:rPr>
              <a:t>风险线索改变猎物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3219450" y="1666875"/>
            <a:ext cx="458152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DC2626"/>
                </a:solidFill>
                <a:latin typeface="Noto Sans CJK SC"/>
                <a:ea typeface="Microsoft YaHei"/>
                <a:cs typeface="Noto Sans CJK SC"/>
              </a:rPr>
              <a:t>繁殖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3695700" y="1666875"/>
            <a:ext cx="23812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1E293B"/>
                </a:solidFill>
                <a:latin typeface="Noto Sans CJK SC"/>
                <a:ea typeface="Microsoft YaHei"/>
                <a:cs typeface="Noto Sans CJK SC"/>
              </a:rPr>
              <a:t>、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3886200" y="1666875"/>
            <a:ext cx="458152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DC2626"/>
                </a:solidFill>
                <a:latin typeface="Noto Sans CJK SC"/>
                <a:ea typeface="Microsoft YaHei"/>
                <a:cs typeface="Noto Sans CJK SC"/>
              </a:rPr>
              <a:t>觅食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4362450" y="1666875"/>
            <a:ext cx="23812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1E293B"/>
                </a:solidFill>
                <a:latin typeface="Noto Sans CJK SC"/>
                <a:ea typeface="Microsoft YaHei"/>
                <a:cs typeface="Noto Sans CJK SC"/>
              </a:rPr>
              <a:t>、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552950" y="1666875"/>
            <a:ext cx="171831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DC2626"/>
                </a:solidFill>
                <a:latin typeface="Noto Sans CJK SC"/>
                <a:ea typeface="Microsoft YaHei"/>
                <a:cs typeface="Noto Sans CJK SC"/>
              </a:rPr>
              <a:t>活动与栖息地选择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6362700" y="1666875"/>
            <a:ext cx="2188369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1E293B"/>
                </a:solidFill>
                <a:latin typeface="Noto Sans CJK SC"/>
                <a:ea typeface="Microsoft YaHei"/>
                <a:cs typeface="Noto Sans CJK SC"/>
              </a:rPr>
              <a:t>——非消耗性效应（NCE）</a:t>
            </a:r>
          </a:p>
        </p:txBody>
      </p:sp>
      <p:grpSp>
        <p:nvGrpSpPr>
          <p:cNvPr id="20" name="Group 20"/>
          <p:cNvGrpSpPr/>
          <p:nvPr/>
        </p:nvGrpSpPr>
        <p:grpSpPr>
          <a:xfrm>
            <a:off x="952500" y="2476500"/>
            <a:ext cx="10287000" cy="1095375"/>
            <a:chOff x="952500" y="2476500"/>
            <a:chExt cx="10287000" cy="1095375"/>
          </a:xfrm>
        </p:grpSpPr>
        <p:sp>
          <p:nvSpPr>
            <p:cNvPr id="15" name="Rectangle 15"/>
            <p:cNvSpPr/>
            <p:nvPr/>
          </p:nvSpPr>
          <p:spPr>
            <a:xfrm>
              <a:off x="952500" y="2476500"/>
              <a:ext cx="10287000" cy="1095375"/>
            </a:xfrm>
            <a:prstGeom prst="roundRect">
              <a:avLst>
                <a:gd name="adj" fmla="val 6957"/>
              </a:avLst>
            </a:prstGeom>
            <a:solidFill>
              <a:srgbClr val="FFFFFF"/>
            </a:solidFill>
            <a:ln w="9525">
              <a:solidFill>
                <a:srgbClr val="CBD5E1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952500" y="2476500"/>
              <a:ext cx="57150" cy="1095375"/>
            </a:xfrm>
            <a:prstGeom prst="roundRect">
              <a:avLst>
                <a:gd name="adj" fmla="val 50000"/>
              </a:avLst>
            </a:prstGeom>
            <a:solidFill>
              <a:srgbClr val="2563A0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1306830" y="2611755"/>
              <a:ext cx="435588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2563A0"/>
                  </a:solidFill>
                  <a:latin typeface="Georgia"/>
                  <a:ea typeface="SimSun"/>
                  <a:cs typeface="Georgia"/>
                </a:rPr>
                <a:t>Q1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884045" y="2660332"/>
              <a:ext cx="489351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E293B"/>
                  </a:solidFill>
                  <a:latin typeface="Noto Sans CJK SC"/>
                  <a:ea typeface="Microsoft YaHei"/>
                  <a:cs typeface="Noto Sans CJK SC"/>
                </a:rPr>
                <a:t>不同恐惧机制是否产生一致的种群动力学结论？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889760" y="3013710"/>
              <a:ext cx="647928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64748B"/>
                  </a:solidFill>
                  <a:latin typeface="Noto Sans CJK SC"/>
                  <a:ea typeface="Microsoft YaHei"/>
                  <a:cs typeface="Noto Sans CJK SC"/>
                </a:rPr>
                <a:t>比较六种恐惧通道（繁殖/觅食/处理时间/B-D）在相同等效抑制强度下的长期种群变化方向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52500" y="3810000"/>
            <a:ext cx="10287000" cy="1095375"/>
            <a:chOff x="952500" y="3810000"/>
            <a:chExt cx="10287000" cy="1095375"/>
          </a:xfrm>
        </p:grpSpPr>
        <p:sp>
          <p:nvSpPr>
            <p:cNvPr id="21" name="Rectangle 21"/>
            <p:cNvSpPr/>
            <p:nvPr/>
          </p:nvSpPr>
          <p:spPr>
            <a:xfrm>
              <a:off x="952500" y="3810000"/>
              <a:ext cx="10287000" cy="1095375"/>
            </a:xfrm>
            <a:prstGeom prst="roundRect">
              <a:avLst>
                <a:gd name="adj" fmla="val 6957"/>
              </a:avLst>
            </a:prstGeom>
            <a:solidFill>
              <a:srgbClr val="FFFFFF"/>
            </a:solidFill>
            <a:ln w="9525">
              <a:solidFill>
                <a:srgbClr val="CBD5E1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952500" y="3810000"/>
              <a:ext cx="57150" cy="1095375"/>
            </a:xfrm>
            <a:prstGeom prst="roundRect">
              <a:avLst>
                <a:gd name="adj" fmla="val 50000"/>
              </a:avLst>
            </a:prstGeom>
            <a:solidFill>
              <a:srgbClr val="2563A0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1306830" y="3945255"/>
              <a:ext cx="435588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2563A0"/>
                  </a:solidFill>
                  <a:latin typeface="Georgia"/>
                  <a:ea typeface="SimSun"/>
                  <a:cs typeface="Georgia"/>
                </a:rPr>
                <a:t>Q2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884045" y="3993832"/>
              <a:ext cx="489351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E293B"/>
                  </a:solidFill>
                  <a:latin typeface="Noto Sans CJK SC"/>
                  <a:ea typeface="Microsoft YaHei"/>
                  <a:cs typeface="Noto Sans CJK SC"/>
                </a:rPr>
                <a:t>含恐惧模型能否改善真实时间序列的留后预测？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889760" y="4347210"/>
              <a:ext cx="574319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64748B"/>
                  </a:solidFill>
                  <a:latin typeface="Noto Sans CJK SC"/>
                  <a:ea typeface="Microsoft YaHei"/>
                  <a:cs typeface="Noto Sans CJK SC"/>
                </a:rPr>
                <a:t>15 条真实种群序列，前 80% 拟合 + 后 20% 连续多步留后验证，AICc 修正复杂度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952500" y="5143500"/>
            <a:ext cx="10287000" cy="1095375"/>
            <a:chOff x="952500" y="5143500"/>
            <a:chExt cx="10287000" cy="1095375"/>
          </a:xfrm>
        </p:grpSpPr>
        <p:sp>
          <p:nvSpPr>
            <p:cNvPr id="27" name="Rectangle 27"/>
            <p:cNvSpPr/>
            <p:nvPr/>
          </p:nvSpPr>
          <p:spPr>
            <a:xfrm>
              <a:off x="952500" y="5143500"/>
              <a:ext cx="10287000" cy="1095375"/>
            </a:xfrm>
            <a:prstGeom prst="roundRect">
              <a:avLst>
                <a:gd name="adj" fmla="val 6957"/>
              </a:avLst>
            </a:prstGeom>
            <a:solidFill>
              <a:srgbClr val="FFFFFF"/>
            </a:solidFill>
            <a:ln w="9525">
              <a:solidFill>
                <a:srgbClr val="CBD5E1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952500" y="5143500"/>
              <a:ext cx="57150" cy="1095375"/>
            </a:xfrm>
            <a:prstGeom prst="roundRect">
              <a:avLst>
                <a:gd name="adj" fmla="val 50000"/>
              </a:avLst>
            </a:prstGeom>
            <a:solidFill>
              <a:srgbClr val="2563A0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1306830" y="5278755"/>
              <a:ext cx="435588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2563A0"/>
                  </a:solidFill>
                  <a:latin typeface="Georgia"/>
                  <a:ea typeface="SimSun"/>
                  <a:cs typeface="Georgia"/>
                </a:rPr>
                <a:t>Q3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884045" y="5327332"/>
              <a:ext cx="5355574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E293B"/>
                  </a:solidFill>
                  <a:latin typeface="Noto Sans CJK SC"/>
                  <a:ea typeface="Microsoft YaHei"/>
                  <a:cs typeface="Noto Sans CJK SC"/>
                </a:rPr>
                <a:t>当模型复杂度增加时，数据能否可靠识别恐惧参数？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889760" y="5680710"/>
              <a:ext cx="612724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64748B"/>
                  </a:solidFill>
                  <a:latin typeface="Noto Sans CJK SC"/>
                  <a:ea typeface="Microsoft YaHei"/>
                  <a:cs typeface="Noto Sans CJK SC"/>
                </a:rPr>
                <a:t>区分"模型能否预测轨迹"与"数据能否识别恐惧机制"——通过 k profile 和参数触边诊断</a:t>
              </a:r>
            </a:p>
          </p:txBody>
        </p:sp>
      </p:grpSp>
      <p:sp>
        <p:nvSpPr>
          <p:cNvPr id="33" name="TextBox 33"/>
          <p:cNvSpPr txBox="1"/>
          <p:nvPr/>
        </p:nvSpPr>
        <p:spPr>
          <a:xfrm>
            <a:off x="11241476" y="6483191"/>
            <a:ext cx="389501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94A3B8"/>
                </a:solidFill>
                <a:latin typeface="Noto Sans CJK SC"/>
                <a:ea typeface="Microsoft YaHei"/>
                <a:cs typeface="Noto Sans CJK SC"/>
              </a:rPr>
              <a:t>03 / 13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B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571500" y="381000"/>
            <a:ext cx="38100" cy="342900"/>
          </a:xfrm>
          <a:prstGeom prst="roundRect">
            <a:avLst>
              <a:gd name="adj" fmla="val 50000"/>
            </a:avLst>
          </a:prstGeom>
          <a:solidFill>
            <a:srgbClr val="1B3A5C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693420" y="369570"/>
            <a:ext cx="1405128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1B3A5C"/>
                </a:solidFill>
                <a:latin typeface="Noto Sans CJK SC"/>
                <a:ea typeface="Microsoft YaHei"/>
                <a:cs typeface="Noto Sans CJK SC"/>
              </a:rPr>
              <a:t>模型体系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10565" y="724852"/>
            <a:ext cx="412918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94A3B8"/>
                </a:solidFill>
                <a:latin typeface="Noto Sans CJK SC"/>
                <a:ea typeface="Microsoft YaHei"/>
                <a:cs typeface="Noto Sans CJK SC"/>
              </a:rPr>
              <a:t>三种核心动力学形式 · 从简单到复杂 · 从经典到高灵活度竞争模型</a:t>
            </a:r>
          </a:p>
        </p:txBody>
      </p:sp>
      <p:sp>
        <p:nvSpPr>
          <p:cNvPr id="6" name="Line 6"/>
          <p:cNvSpPr/>
          <p:nvPr/>
        </p:nvSpPr>
        <p:spPr>
          <a:xfrm>
            <a:off x="571500" y="1000125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CBD5E1"/>
            </a:solidFill>
          </a:ln>
        </p:spPr>
      </p:sp>
      <p:grpSp>
        <p:nvGrpSpPr>
          <p:cNvPr id="16" name="Group 16"/>
          <p:cNvGrpSpPr/>
          <p:nvPr/>
        </p:nvGrpSpPr>
        <p:grpSpPr>
          <a:xfrm>
            <a:off x="571500" y="1190625"/>
            <a:ext cx="3619500" cy="5143500"/>
            <a:chOff x="571500" y="1190625"/>
            <a:chExt cx="3619500" cy="5143500"/>
          </a:xfrm>
        </p:grpSpPr>
        <p:sp>
          <p:nvSpPr>
            <p:cNvPr id="7" name="Rectangle 7"/>
            <p:cNvSpPr/>
            <p:nvPr/>
          </p:nvSpPr>
          <p:spPr>
            <a:xfrm>
              <a:off x="571500" y="1190625"/>
              <a:ext cx="3619500" cy="5143500"/>
            </a:xfrm>
            <a:prstGeom prst="roundRect">
              <a:avLst>
                <a:gd name="adj" fmla="val 2105"/>
              </a:avLst>
            </a:prstGeom>
            <a:solidFill>
              <a:srgbClr val="FFFFFF"/>
            </a:solidFill>
            <a:ln w="9525">
              <a:solidFill>
                <a:srgbClr val="CBD5E1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71500" y="1190625"/>
              <a:ext cx="3619500" cy="495300"/>
            </a:xfrm>
            <a:prstGeom prst="roundRect">
              <a:avLst>
                <a:gd name="adj" fmla="val 15385"/>
              </a:avLst>
            </a:prstGeom>
            <a:solidFill>
              <a:srgbClr val="1B3A5C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571500" y="1495425"/>
              <a:ext cx="3619500" cy="190500"/>
            </a:xfrm>
            <a:prstGeom prst="rect">
              <a:avLst/>
            </a:prstGeom>
            <a:solidFill>
              <a:srgbClr val="1B3A5C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411831" y="1343025"/>
              <a:ext cx="1938838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Noto Sans CJK SC"/>
                  <a:ea typeface="Microsoft YaHei"/>
                  <a:cs typeface="Noto Sans CJK SC"/>
                </a:rPr>
                <a:t>Baseline · Holling II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96290" y="1886902"/>
              <a:ext cx="250498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4748B"/>
                  </a:solidFill>
                  <a:latin typeface="Noto Sans CJK SC"/>
                  <a:ea typeface="Microsoft YaHei"/>
                  <a:cs typeface="Noto Sans CJK SC"/>
                </a:rPr>
                <a:t>经典 logistic 增长 + Holling II 功能反应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96290" y="2153602"/>
              <a:ext cx="246297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4748B"/>
                  </a:solidFill>
                  <a:latin typeface="Noto Sans CJK SC"/>
                  <a:ea typeface="Microsoft YaHei"/>
                  <a:cs typeface="Noto Sans CJK SC"/>
                </a:rPr>
                <a:t>待拟合参数：r, K, a, θ, e, μ（6 个）</a:t>
              </a:r>
            </a:p>
          </p:txBody>
        </p:sp>
        <p:pic>
          <p:nvPicPr>
            <p:cNvPr id="13" name="Image 13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62000" y="2476500"/>
              <a:ext cx="3238500" cy="1266825"/>
            </a:xfrm>
            <a:prstGeom prst="rect">
              <a:avLst/>
            </a:prstGeom>
          </p:spPr>
        </p:pic>
        <p:sp>
          <p:nvSpPr>
            <p:cNvPr id="14" name="Rectangle 14"/>
            <p:cNvSpPr/>
            <p:nvPr/>
          </p:nvSpPr>
          <p:spPr>
            <a:xfrm>
              <a:off x="762000" y="3905250"/>
              <a:ext cx="3238500" cy="476250"/>
            </a:xfrm>
            <a:prstGeom prst="roundRect">
              <a:avLst>
                <a:gd name="adj" fmla="val 12000"/>
              </a:avLst>
            </a:prstGeom>
            <a:solidFill>
              <a:srgbClr val="F0F3F7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1709035" y="4085749"/>
              <a:ext cx="134443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1E293B"/>
                  </a:solidFill>
                  <a:latin typeface="Noto Sans CJK SC"/>
                  <a:ea typeface="Microsoft YaHei"/>
                  <a:cs typeface="Noto Sans CJK SC"/>
                </a:rPr>
                <a:t>最简基准 · 无恐惧机制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4286250" y="1190625"/>
            <a:ext cx="3619500" cy="5143500"/>
            <a:chOff x="4286250" y="1190625"/>
            <a:chExt cx="3619500" cy="5143500"/>
          </a:xfrm>
        </p:grpSpPr>
        <p:sp>
          <p:nvSpPr>
            <p:cNvPr id="17" name="Rectangle 17"/>
            <p:cNvSpPr/>
            <p:nvPr/>
          </p:nvSpPr>
          <p:spPr>
            <a:xfrm>
              <a:off x="4286250" y="1190625"/>
              <a:ext cx="3619500" cy="5143500"/>
            </a:xfrm>
            <a:prstGeom prst="roundRect">
              <a:avLst>
                <a:gd name="adj" fmla="val 2105"/>
              </a:avLst>
            </a:prstGeom>
            <a:solidFill>
              <a:srgbClr val="FFFFFF"/>
            </a:solidFill>
            <a:ln w="9525">
              <a:solidFill>
                <a:srgbClr val="CBD5E1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4286250" y="1190625"/>
              <a:ext cx="3619500" cy="495300"/>
            </a:xfrm>
            <a:prstGeom prst="roundRect">
              <a:avLst>
                <a:gd name="adj" fmla="val 15385"/>
              </a:avLst>
            </a:prstGeom>
            <a:solidFill>
              <a:srgbClr val="2563A0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4286250" y="1495425"/>
              <a:ext cx="3619500" cy="190500"/>
            </a:xfrm>
            <a:prstGeom prst="rect">
              <a:avLst/>
            </a:prstGeom>
            <a:solidFill>
              <a:srgbClr val="2563A0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753785" y="1343025"/>
              <a:ext cx="2684431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Noto Sans CJK SC"/>
                  <a:ea typeface="Microsoft YaHei"/>
                  <a:cs typeface="Noto Sans CJK SC"/>
                </a:rPr>
                <a:t>Fear-Memory · 指数记忆核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511040" y="1886902"/>
              <a:ext cx="214793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4748B"/>
                  </a:solidFill>
                  <a:latin typeface="Noto Sans CJK SC"/>
                  <a:ea typeface="Microsoft YaHei"/>
                  <a:cs typeface="Noto Sans CJK SC"/>
                </a:rPr>
                <a:t>繁殖抑制 + 捕食压力指数加权累积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511040" y="2153602"/>
              <a:ext cx="265899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4748B"/>
                  </a:solidFill>
                  <a:latin typeface="Noto Sans CJK SC"/>
                  <a:ea typeface="Microsoft YaHei"/>
                  <a:cs typeface="Noto Sans CJK SC"/>
                </a:rPr>
                <a:t>待拟合参数：r, K, a, θ, e, μ, φ（7 个）</a:t>
              </a:r>
            </a:p>
          </p:txBody>
        </p:sp>
        <p:pic>
          <p:nvPicPr>
            <p:cNvPr id="23" name="Image 23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476750" y="2704048"/>
              <a:ext cx="3238500" cy="1402279"/>
            </a:xfrm>
            <a:prstGeom prst="rect">
              <a:avLst/>
            </a:prstGeom>
          </p:spPr>
        </p:pic>
        <p:sp>
          <p:nvSpPr>
            <p:cNvPr id="24" name="Rectangle 24"/>
            <p:cNvSpPr/>
            <p:nvPr/>
          </p:nvSpPr>
          <p:spPr>
            <a:xfrm>
              <a:off x="4476750" y="4476750"/>
              <a:ext cx="3238500" cy="476250"/>
            </a:xfrm>
            <a:prstGeom prst="roundRect">
              <a:avLst>
                <a:gd name="adj" fmla="val 12000"/>
              </a:avLst>
            </a:prstGeom>
            <a:solidFill>
              <a:srgbClr val="F0F3F7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4981730" y="4657249"/>
              <a:ext cx="222854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1E293B"/>
                  </a:solidFill>
                  <a:latin typeface="Noto Sans CJK SC"/>
                  <a:ea typeface="Microsoft YaHei"/>
                  <a:cs typeface="Noto Sans CJK SC"/>
                </a:rPr>
                <a:t>核心模型 · M* = y*/δ · 恐惧记忆状态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8001000" y="1190625"/>
            <a:ext cx="3619500" cy="5143500"/>
            <a:chOff x="8001000" y="1190625"/>
            <a:chExt cx="3619500" cy="5143500"/>
          </a:xfrm>
        </p:grpSpPr>
        <p:sp>
          <p:nvSpPr>
            <p:cNvPr id="27" name="Rectangle 27"/>
            <p:cNvSpPr/>
            <p:nvPr/>
          </p:nvSpPr>
          <p:spPr>
            <a:xfrm>
              <a:off x="8001000" y="1190625"/>
              <a:ext cx="3619500" cy="5143500"/>
            </a:xfrm>
            <a:prstGeom prst="roundRect">
              <a:avLst>
                <a:gd name="adj" fmla="val 2105"/>
              </a:avLst>
            </a:prstGeom>
            <a:solidFill>
              <a:srgbClr val="FFFFFF"/>
            </a:solidFill>
            <a:ln w="9525">
              <a:solidFill>
                <a:srgbClr val="CBD5E1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8001000" y="1190625"/>
              <a:ext cx="3619500" cy="495300"/>
            </a:xfrm>
            <a:prstGeom prst="roundRect">
              <a:avLst>
                <a:gd name="adj" fmla="val 15385"/>
              </a:avLst>
            </a:prstGeom>
            <a:solidFill>
              <a:srgbClr val="4A90B8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8001000" y="1495425"/>
              <a:ext cx="3619500" cy="190500"/>
            </a:xfrm>
            <a:prstGeom prst="rect">
              <a:avLst/>
            </a:prstGeom>
            <a:solidFill>
              <a:srgbClr val="4A90B8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8725817" y="1343025"/>
              <a:ext cx="2169866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Noto Sans CJK SC"/>
                  <a:ea typeface="Microsoft YaHei"/>
                  <a:cs typeface="Noto Sans CJK SC"/>
                </a:rPr>
                <a:t>B-D + Fear · 高灵活度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8225790" y="1886902"/>
              <a:ext cx="256098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4748B"/>
                  </a:solidFill>
                  <a:latin typeface="Noto Sans CJK SC"/>
                  <a:ea typeface="Microsoft YaHei"/>
                  <a:cs typeface="Noto Sans CJK SC"/>
                </a:rPr>
                <a:t>Beddington-DeAngelis + Wang 恐惧因子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8225790" y="2153602"/>
              <a:ext cx="288302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4748B"/>
                  </a:solidFill>
                  <a:latin typeface="Noto Sans CJK SC"/>
                  <a:ea typeface="Microsoft YaHei"/>
                  <a:cs typeface="Noto Sans CJK SC"/>
                </a:rPr>
                <a:t>待拟合参数：r, d, a, p, q, c, m, k（8 个）</a:t>
              </a:r>
            </a:p>
          </p:txBody>
        </p:sp>
        <p:pic>
          <p:nvPicPr>
            <p:cNvPr id="33" name="Image 33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191500" y="2643010"/>
              <a:ext cx="3238500" cy="1000480"/>
            </a:xfrm>
            <a:prstGeom prst="rect">
              <a:avLst/>
            </a:prstGeom>
          </p:spPr>
        </p:pic>
        <p:pic>
          <p:nvPicPr>
            <p:cNvPr id="34" name="Image 34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8191500" y="3956110"/>
              <a:ext cx="3238500" cy="326905"/>
            </a:xfrm>
            <a:prstGeom prst="rect">
              <a:avLst/>
            </a:prstGeom>
          </p:spPr>
        </p:pic>
        <p:sp>
          <p:nvSpPr>
            <p:cNvPr id="35" name="Rectangle 35"/>
            <p:cNvSpPr/>
            <p:nvPr/>
          </p:nvSpPr>
          <p:spPr>
            <a:xfrm>
              <a:off x="8191500" y="4476750"/>
              <a:ext cx="3238500" cy="476250"/>
            </a:xfrm>
            <a:prstGeom prst="roundRect">
              <a:avLst>
                <a:gd name="adj" fmla="val 12000"/>
              </a:avLst>
            </a:prstGeom>
            <a:solidFill>
              <a:srgbClr val="F0F3F7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8780990" y="4657249"/>
              <a:ext cx="205951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1E293B"/>
                  </a:solidFill>
                  <a:latin typeface="Noto Sans CJK SC"/>
                  <a:ea typeface="Microsoft YaHei"/>
                  <a:cs typeface="Noto Sans CJK SC"/>
                </a:rPr>
                <a:t>竞争模型 · k profile 检验可辨识性</a:t>
              </a:r>
            </a:p>
          </p:txBody>
        </p:sp>
      </p:grpSp>
      <p:sp>
        <p:nvSpPr>
          <p:cNvPr id="38" name="TextBox 38"/>
          <p:cNvSpPr txBox="1"/>
          <p:nvPr/>
        </p:nvSpPr>
        <p:spPr>
          <a:xfrm>
            <a:off x="11241476" y="6483191"/>
            <a:ext cx="389501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94A3B8"/>
                </a:solidFill>
                <a:latin typeface="Noto Sans CJK SC"/>
                <a:ea typeface="Microsoft YaHei"/>
                <a:cs typeface="Noto Sans CJK SC"/>
              </a:rPr>
              <a:t>04 / 13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B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571500" y="381000"/>
            <a:ext cx="38100" cy="342900"/>
          </a:xfrm>
          <a:prstGeom prst="roundRect">
            <a:avLst>
              <a:gd name="adj" fmla="val 50000"/>
            </a:avLst>
          </a:prstGeom>
          <a:solidFill>
            <a:srgbClr val="1B3A5C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693420" y="369570"/>
            <a:ext cx="3757422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1B3A5C"/>
                </a:solidFill>
                <a:latin typeface="Noto Sans CJK SC"/>
                <a:ea typeface="Microsoft YaHei"/>
                <a:cs typeface="Noto Sans CJK SC"/>
              </a:rPr>
              <a:t>六种恐惧机制与公平比较</a:t>
            </a:r>
          </a:p>
        </p:txBody>
      </p:sp>
      <p:sp>
        <p:nvSpPr>
          <p:cNvPr id="5" name="Line 5"/>
          <p:cNvSpPr/>
          <p:nvPr/>
        </p:nvSpPr>
        <p:spPr>
          <a:xfrm>
            <a:off x="571500" y="809625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CBD5E1"/>
            </a:solidFill>
          </a:ln>
        </p:spPr>
      </p:sp>
      <p:grpSp>
        <p:nvGrpSpPr>
          <p:cNvPr id="25" name="Group 25"/>
          <p:cNvGrpSpPr/>
          <p:nvPr/>
        </p:nvGrpSpPr>
        <p:grpSpPr>
          <a:xfrm>
            <a:off x="673427" y="996315"/>
            <a:ext cx="4558646" cy="5275897"/>
            <a:chOff x="673427" y="996315"/>
            <a:chExt cx="4558646" cy="5275897"/>
          </a:xfrm>
        </p:grpSpPr>
        <p:sp>
          <p:nvSpPr>
            <p:cNvPr id="6" name="TextBox 6"/>
            <p:cNvSpPr txBox="1"/>
            <p:nvPr/>
          </p:nvSpPr>
          <p:spPr>
            <a:xfrm>
              <a:off x="739140" y="996315"/>
              <a:ext cx="1557909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E293B"/>
                  </a:solidFill>
                  <a:latin typeface="Noto Sans CJK SC"/>
                  <a:ea typeface="Microsoft YaHei"/>
                  <a:cs typeface="Noto Sans CJK SC"/>
                </a:rPr>
                <a:t>公平比较框架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762000" y="1428750"/>
              <a:ext cx="4381500" cy="666750"/>
            </a:xfrm>
            <a:prstGeom prst="roundRect">
              <a:avLst>
                <a:gd name="adj" fmla="val 8571"/>
              </a:avLst>
            </a:prstGeom>
            <a:solidFill>
              <a:srgbClr val="F0F3F7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937260" y="1565910"/>
              <a:ext cx="227076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E293B"/>
                  </a:solidFill>
                  <a:latin typeface="Noto Sans CJK SC"/>
                  <a:ea typeface="Microsoft YaHei"/>
                  <a:cs typeface="Noto Sans CJK SC"/>
                </a:rPr>
                <a:t>各体系无恐惧正平衡点处校准为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937260" y="1813560"/>
              <a:ext cx="1063809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DC2626"/>
                  </a:solidFill>
                  <a:latin typeface="Noto Sans CJK SC"/>
                  <a:ea typeface="Microsoft YaHei"/>
                  <a:cs typeface="Noto Sans CJK SC"/>
                </a:rPr>
                <a:t>20% 等效抑制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762000" y="2238375"/>
              <a:ext cx="4381500" cy="476250"/>
            </a:xfrm>
            <a:prstGeom prst="roundRect">
              <a:avLst>
                <a:gd name="adj" fmla="val 12000"/>
              </a:avLst>
            </a:prstGeom>
            <a:solidFill>
              <a:srgbClr val="F0F3F7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37260" y="2404110"/>
              <a:ext cx="291084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E293B"/>
                  </a:solidFill>
                  <a:latin typeface="Noto Sans CJK SC"/>
                  <a:ea typeface="Microsoft YaHei"/>
                  <a:cs typeface="Noto Sans CJK SC"/>
                </a:rPr>
                <a:t>比较相对各自无恐惧基线的长期均值变化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762000" y="2857500"/>
              <a:ext cx="4381500" cy="476250"/>
            </a:xfrm>
            <a:prstGeom prst="roundRect">
              <a:avLst>
                <a:gd name="adj" fmla="val 12000"/>
              </a:avLst>
            </a:prstGeom>
            <a:solidFill>
              <a:srgbClr val="F0F3F7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37260" y="3023235"/>
              <a:ext cx="365493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E293B"/>
                  </a:solidFill>
                  <a:latin typeface="Noto Sans CJK SC"/>
                  <a:ea typeface="Microsoft YaHei"/>
                  <a:cs typeface="Noto Sans CJK SC"/>
                </a:rPr>
                <a:t>Holling 与 B-D 绝对密度不可直接比较（不同量纲）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39140" y="3520440"/>
              <a:ext cx="1557909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E293B"/>
                  </a:solidFill>
                  <a:latin typeface="Noto Sans CJK SC"/>
                  <a:ea typeface="Microsoft YaHei"/>
                  <a:cs typeface="Noto Sans CJK SC"/>
                </a:rPr>
                <a:t>六种恐惧通道</a:t>
              </a:r>
            </a:p>
          </p:txBody>
        </p:sp>
        <p:grpSp>
          <p:nvGrpSpPr>
            <p:cNvPr id="21" name="Group 21"/>
            <p:cNvGrpSpPr/>
            <p:nvPr/>
          </p:nvGrpSpPr>
          <p:grpSpPr>
            <a:xfrm>
              <a:off x="937260" y="3918585"/>
              <a:ext cx="2878836" cy="1672590"/>
              <a:chOff x="937260" y="3918585"/>
              <a:chExt cx="2878836" cy="1672590"/>
            </a:xfrm>
          </p:grpSpPr>
          <p:sp>
            <p:nvSpPr>
              <p:cNvPr id="15" name="TextBox 15"/>
              <p:cNvSpPr txBox="1"/>
              <p:nvPr/>
            </p:nvSpPr>
            <p:spPr>
              <a:xfrm>
                <a:off x="937260" y="3918585"/>
                <a:ext cx="1214628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1E293B"/>
                    </a:solidFill>
                    <a:latin typeface="Noto Sans CJK SC"/>
                    <a:ea typeface="Microsoft YaHei"/>
                    <a:cs typeface="Noto Sans CJK SC"/>
                  </a:rPr>
                  <a:t>1. 瞬时繁殖抑制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937260" y="4204335"/>
                <a:ext cx="2174748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1E293B"/>
                    </a:solidFill>
                    <a:latin typeface="Noto Sans CJK SC"/>
                    <a:ea typeface="Microsoft YaHei"/>
                    <a:cs typeface="Noto Sans CJK SC"/>
                  </a:rPr>
                  <a:t>2. 记忆繁殖抑制（核心模型）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937260" y="4490085"/>
                <a:ext cx="2358771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1E293B"/>
                    </a:solidFill>
                    <a:latin typeface="Noto Sans CJK SC"/>
                    <a:ea typeface="Microsoft YaHei"/>
                    <a:cs typeface="Noto Sans CJK SC"/>
                  </a:rPr>
                  <a:t>3. 饱和繁殖抑制（Zanette 型）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937260" y="4775835"/>
                <a:ext cx="2878836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1E293B"/>
                    </a:solidFill>
                    <a:latin typeface="Noto Sans CJK SC"/>
                    <a:ea typeface="Microsoft YaHei"/>
                    <a:cs typeface="Noto Sans CJK SC"/>
                  </a:rPr>
                  <a:t>4. 觅食/攻击率抑制（Lima/Preisser）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937260" y="5061585"/>
                <a:ext cx="1214628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1E293B"/>
                    </a:solidFill>
                    <a:latin typeface="Noto Sans CJK SC"/>
                    <a:ea typeface="Microsoft YaHei"/>
                    <a:cs typeface="Noto Sans CJK SC"/>
                  </a:rPr>
                  <a:t>5. 处理时间延长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937260" y="5347335"/>
                <a:ext cx="1774698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1E293B"/>
                    </a:solidFill>
                    <a:latin typeface="Noto Sans CJK SC"/>
                    <a:ea typeface="Microsoft YaHei"/>
                    <a:cs typeface="Noto Sans CJK SC"/>
                  </a:rPr>
                  <a:t>6. B-D + Wang 恐惧因子</a:t>
                </a:r>
              </a:p>
            </p:txBody>
          </p:sp>
        </p:grpSp>
        <p:sp>
          <p:nvSpPr>
            <p:cNvPr id="22" name="Rectangle 22"/>
            <p:cNvSpPr/>
            <p:nvPr/>
          </p:nvSpPr>
          <p:spPr>
            <a:xfrm>
              <a:off x="762000" y="5715000"/>
              <a:ext cx="4381500" cy="523875"/>
            </a:xfrm>
            <a:prstGeom prst="roundRect">
              <a:avLst>
                <a:gd name="adj" fmla="val 10909"/>
              </a:avLst>
            </a:prstGeom>
            <a:solidFill>
              <a:srgbClr val="1B3A5C">
                <a:alpha val="8000"/>
              </a:srgbClr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73427" y="5823585"/>
              <a:ext cx="455864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B3A5C"/>
                  </a:solidFill>
                  <a:latin typeface="Noto Sans CJK SC"/>
                  <a:ea typeface="Microsoft YaHei"/>
                  <a:cs typeface="Noto Sans CJK SC"/>
                </a:rPr>
                <a:t>繁殖抑制 ↓捕食者 ~17% | 觅食/处理 ↑两者 | B-D ↓两者 ~30%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539240" y="6058852"/>
              <a:ext cx="282702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64748B"/>
                  </a:solidFill>
                  <a:latin typeface="Noto Sans CJK SC"/>
                  <a:ea typeface="Microsoft YaHei"/>
                  <a:cs typeface="Noto Sans CJK SC"/>
                </a:rPr>
                <a:t>恐惧增加还是减少种群？没有机制无关的答案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5604510" y="1061085"/>
            <a:ext cx="6015990" cy="5130165"/>
            <a:chOff x="5604510" y="1061085"/>
            <a:chExt cx="6015990" cy="5130165"/>
          </a:xfrm>
        </p:grpSpPr>
        <p:sp>
          <p:nvSpPr>
            <p:cNvPr id="26" name="TextBox 26"/>
            <p:cNvSpPr txBox="1"/>
            <p:nvPr/>
          </p:nvSpPr>
          <p:spPr>
            <a:xfrm>
              <a:off x="5604510" y="1061085"/>
              <a:ext cx="870585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64748B"/>
                  </a:solidFill>
                  <a:latin typeface="Noto Sans CJK SC"/>
                  <a:ea typeface="Microsoft YaHei"/>
                  <a:cs typeface="Noto Sans CJK SC"/>
                </a:rPr>
                <a:t>机制对比图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5619750" y="1333500"/>
              <a:ext cx="6000750" cy="4857750"/>
            </a:xfrm>
            <a:prstGeom prst="roundRect">
              <a:avLst>
                <a:gd name="adj" fmla="val 1569"/>
              </a:avLst>
            </a:prstGeom>
            <a:solidFill>
              <a:srgbClr val="FFFFFF"/>
            </a:solidFill>
            <a:ln w="9525">
              <a:solidFill>
                <a:srgbClr val="CBD5E1"/>
              </a:solidFill>
            </a:ln>
          </p:spPr>
        </p:sp>
        <p:pic>
          <p:nvPicPr>
            <p:cNvPr id="28" name="Image 28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715000" y="1881188"/>
              <a:ext cx="5810250" cy="2905125"/>
            </a:xfrm>
            <a:prstGeom prst="rect">
              <a:avLst/>
            </a:prstGeom>
          </p:spPr>
        </p:pic>
      </p:grpSp>
      <p:sp>
        <p:nvSpPr>
          <p:cNvPr id="30" name="TextBox 30"/>
          <p:cNvSpPr txBox="1"/>
          <p:nvPr/>
        </p:nvSpPr>
        <p:spPr>
          <a:xfrm>
            <a:off x="11241476" y="6483191"/>
            <a:ext cx="389501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94A3B8"/>
                </a:solidFill>
                <a:latin typeface="Noto Sans CJK SC"/>
                <a:ea typeface="Microsoft YaHei"/>
                <a:cs typeface="Noto Sans CJK SC"/>
              </a:rPr>
              <a:t>05 / 13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9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400"/>
                            </p:stCondLst>
                            <p:childTnLst>
                              <p:par>
                                <p:cTn id="2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1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25" grpId="0"/>
      <p:bldP spid="29" grpId="0"/>
      <p:bldP spid="30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B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571500" y="381000"/>
            <a:ext cx="38100" cy="342900"/>
          </a:xfrm>
          <a:prstGeom prst="roundRect">
            <a:avLst>
              <a:gd name="adj" fmla="val 50000"/>
            </a:avLst>
          </a:prstGeom>
          <a:solidFill>
            <a:srgbClr val="1B3A5C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693420" y="369570"/>
            <a:ext cx="3034932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1B3A5C"/>
                </a:solidFill>
                <a:latin typeface="Noto Sans CJK SC"/>
                <a:ea typeface="Microsoft YaHei"/>
                <a:cs typeface="Noto Sans CJK SC"/>
              </a:rPr>
              <a:t>φ 扫描：共存与收敛</a:t>
            </a:r>
          </a:p>
        </p:txBody>
      </p:sp>
      <p:sp>
        <p:nvSpPr>
          <p:cNvPr id="5" name="Line 5"/>
          <p:cNvSpPr/>
          <p:nvPr/>
        </p:nvSpPr>
        <p:spPr>
          <a:xfrm>
            <a:off x="571500" y="809625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CBD5E1"/>
            </a:solidFill>
          </a:ln>
        </p:spPr>
      </p:sp>
      <p:grpSp>
        <p:nvGrpSpPr>
          <p:cNvPr id="19" name="Group 19"/>
          <p:cNvGrpSpPr/>
          <p:nvPr/>
        </p:nvGrpSpPr>
        <p:grpSpPr>
          <a:xfrm>
            <a:off x="571500" y="1040130"/>
            <a:ext cx="11049000" cy="1531620"/>
            <a:chOff x="571500" y="1040130"/>
            <a:chExt cx="11049000" cy="1531620"/>
          </a:xfrm>
        </p:grpSpPr>
        <p:sp>
          <p:nvSpPr>
            <p:cNvPr id="6" name="Rectangle 6"/>
            <p:cNvSpPr/>
            <p:nvPr/>
          </p:nvSpPr>
          <p:spPr>
            <a:xfrm>
              <a:off x="571500" y="1047750"/>
              <a:ext cx="2667000" cy="1524000"/>
            </a:xfrm>
            <a:prstGeom prst="roundRect">
              <a:avLst>
                <a:gd name="adj" fmla="val 5000"/>
              </a:avLst>
            </a:prstGeom>
            <a:solidFill>
              <a:srgbClr val="1B3A5C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166193" y="1040130"/>
              <a:ext cx="1477613" cy="731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600" b="1" dirty="0">
                  <a:solidFill>
                    <a:srgbClr val="FFFFFF"/>
                  </a:solidFill>
                  <a:latin typeface="Georgia"/>
                  <a:ea typeface="SimSun"/>
                  <a:cs typeface="Georgia"/>
                </a:rPr>
                <a:t>31/31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451300" y="1616392"/>
              <a:ext cx="907399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CBD5E1"/>
                  </a:solidFill>
                  <a:latin typeface="Noto Sans CJK SC"/>
                  <a:ea typeface="Microsoft YaHei"/>
                  <a:cs typeface="Noto Sans CJK SC"/>
                </a:rPr>
                <a:t>φ 情景共存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401604" y="1982152"/>
              <a:ext cx="100679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94A3B8"/>
                  </a:solidFill>
                  <a:latin typeface="Noto Sans CJK SC"/>
                  <a:ea typeface="Microsoft YaHei"/>
                  <a:cs typeface="Noto Sans CJK SC"/>
                </a:rPr>
                <a:t>恐惧不导致灭绝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3429000" y="1047750"/>
              <a:ext cx="2667000" cy="1524000"/>
            </a:xfrm>
            <a:prstGeom prst="roundRect">
              <a:avLst>
                <a:gd name="adj" fmla="val 5000"/>
              </a:avLst>
            </a:prstGeom>
            <a:solidFill>
              <a:srgbClr val="F0F3F7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4439545" y="1040130"/>
              <a:ext cx="645909" cy="731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600" b="1" dirty="0">
                  <a:solidFill>
                    <a:srgbClr val="DC2626"/>
                  </a:solidFill>
                  <a:latin typeface="Georgia"/>
                  <a:ea typeface="SimSun"/>
                  <a:cs typeface="Georgia"/>
                </a:rPr>
                <a:t>11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4115276" y="1616392"/>
              <a:ext cx="129444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64748B"/>
                  </a:solidFill>
                  <a:latin typeface="Noto Sans CJK SC"/>
                  <a:ea typeface="Microsoft YaHei"/>
                  <a:cs typeface="Noto Sans CJK SC"/>
                </a:rPr>
                <a:t>未通过收敛诊断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028075" y="1982152"/>
              <a:ext cx="146885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94A3B8"/>
                  </a:solidFill>
                  <a:latin typeface="Noto Sans CJK SC"/>
                  <a:ea typeface="Microsoft YaHei"/>
                  <a:cs typeface="Noto Sans CJK SC"/>
                </a:rPr>
                <a:t>高 φ 区域 · 需更长积分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6286500" y="1047750"/>
              <a:ext cx="5334000" cy="1524000"/>
            </a:xfrm>
            <a:prstGeom prst="roundRect">
              <a:avLst>
                <a:gd name="adj" fmla="val 5000"/>
              </a:avLst>
            </a:prstGeom>
            <a:solidFill>
              <a:srgbClr val="F0F3F7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650355" y="1283018"/>
              <a:ext cx="79038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E293B"/>
                  </a:solidFill>
                  <a:latin typeface="Noto Sans CJK SC"/>
                  <a:ea typeface="Microsoft YaHei"/>
                  <a:cs typeface="Noto Sans CJK SC"/>
                </a:rPr>
                <a:t>核心发现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652260" y="1604010"/>
              <a:ext cx="2598801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E293B"/>
                  </a:solidFill>
                  <a:latin typeface="Noto Sans CJK SC"/>
                  <a:ea typeface="Microsoft YaHei"/>
                  <a:cs typeface="Noto Sans CJK SC"/>
                </a:rPr>
                <a:t>猎物均值 ≈ 20.02，基本不受 φ 影响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652260" y="1889760"/>
              <a:ext cx="197472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E293B"/>
                  </a:solidFill>
                  <a:latin typeface="Noto Sans CJK SC"/>
                  <a:ea typeface="Microsoft YaHei"/>
                  <a:cs typeface="Noto Sans CJK SC"/>
                </a:rPr>
                <a:t>捕食者均值随 φ 递增而递减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652260" y="2175510"/>
              <a:ext cx="279882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64748B"/>
                  </a:solidFill>
                  <a:latin typeface="Noto Sans CJK SC"/>
                  <a:ea typeface="Microsoft YaHei"/>
                  <a:cs typeface="Noto Sans CJK SC"/>
                </a:rPr>
                <a:t>共存 ≠ 动力学稳态 · 记忆强度存在上界</a:t>
              </a:r>
            </a:p>
          </p:txBody>
        </p:sp>
      </p:grpSp>
      <p:sp>
        <p:nvSpPr>
          <p:cNvPr id="20" name="Rectangle 20"/>
          <p:cNvSpPr/>
          <p:nvPr/>
        </p:nvSpPr>
        <p:spPr>
          <a:xfrm>
            <a:off x="571500" y="2762250"/>
            <a:ext cx="11049000" cy="361950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</p:spPr>
      </p:sp>
      <p:pic>
        <p:nvPicPr>
          <p:cNvPr id="21" name="Image 2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17333" y="2952750"/>
            <a:ext cx="5757333" cy="3238500"/>
          </a:xfrm>
          <a:prstGeom prst="rect">
            <a:avLst/>
          </a:prstGeom>
        </p:spPr>
      </p:pic>
      <p:sp>
        <p:nvSpPr>
          <p:cNvPr id="22" name="TextBox 22"/>
          <p:cNvSpPr txBox="1"/>
          <p:nvPr/>
        </p:nvSpPr>
        <p:spPr>
          <a:xfrm>
            <a:off x="11241476" y="6483191"/>
            <a:ext cx="389501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94A3B8"/>
                </a:solidFill>
                <a:latin typeface="Noto Sans CJK SC"/>
                <a:ea typeface="Microsoft YaHei"/>
                <a:cs typeface="Noto Sans CJK SC"/>
              </a:rPr>
              <a:t>06 / 13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9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23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400"/>
                            </p:stCondLst>
                            <p:childTnLst>
                              <p:par>
                                <p:cTn id="2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6300"/>
                            </p:stCondLst>
                            <p:childTnLst>
                              <p:par>
                                <p:cTn id="3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5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19" grpId="0"/>
      <p:bldP spid="20" grpId="0"/>
      <p:bldP spid="21" grpId="0"/>
      <p:bldP spid="2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B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571500" y="381000"/>
            <a:ext cx="38100" cy="342900"/>
          </a:xfrm>
          <a:prstGeom prst="roundRect">
            <a:avLst>
              <a:gd name="adj" fmla="val 50000"/>
            </a:avLst>
          </a:prstGeom>
          <a:solidFill>
            <a:srgbClr val="1B3A5C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693420" y="369570"/>
            <a:ext cx="2749296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1B3A5C"/>
                </a:solidFill>
                <a:latin typeface="Noto Sans CJK SC"/>
                <a:ea typeface="Microsoft YaHei"/>
                <a:cs typeface="Noto Sans CJK SC"/>
              </a:rPr>
              <a:t>真实数据拟合协议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10565" y="724852"/>
            <a:ext cx="506730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94A3B8"/>
                </a:solidFill>
                <a:latin typeface="Noto Sans CJK SC"/>
                <a:ea typeface="Microsoft YaHei"/>
                <a:cs typeface="Noto Sans CJK SC"/>
              </a:rPr>
              <a:t>15 条种群时间序列 · 前 80% 拟合 + 后 20% 连续多步留后验证 · AICc 修正复杂度</a:t>
            </a:r>
          </a:p>
        </p:txBody>
      </p:sp>
      <p:sp>
        <p:nvSpPr>
          <p:cNvPr id="6" name="Line 6"/>
          <p:cNvSpPr/>
          <p:nvPr/>
        </p:nvSpPr>
        <p:spPr>
          <a:xfrm>
            <a:off x="571500" y="1000125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CBD5E1"/>
            </a:solidFill>
          </a:ln>
        </p:spPr>
      </p:sp>
      <p:grpSp>
        <p:nvGrpSpPr>
          <p:cNvPr id="28" name="Group 28"/>
          <p:cNvGrpSpPr/>
          <p:nvPr/>
        </p:nvGrpSpPr>
        <p:grpSpPr>
          <a:xfrm>
            <a:off x="741045" y="1203008"/>
            <a:ext cx="6688455" cy="3597592"/>
            <a:chOff x="741045" y="1203008"/>
            <a:chExt cx="6688455" cy="3597592"/>
          </a:xfrm>
        </p:grpSpPr>
        <p:sp>
          <p:nvSpPr>
            <p:cNvPr id="7" name="TextBox 7"/>
            <p:cNvSpPr txBox="1"/>
            <p:nvPr/>
          </p:nvSpPr>
          <p:spPr>
            <a:xfrm>
              <a:off x="741045" y="1203008"/>
              <a:ext cx="1197054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E293B"/>
                  </a:solidFill>
                  <a:latin typeface="Noto Sans CJK SC"/>
                  <a:ea typeface="Microsoft YaHei"/>
                  <a:cs typeface="Noto Sans CJK SC"/>
                </a:rPr>
                <a:t>数据集概览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762000" y="1571625"/>
              <a:ext cx="2095500" cy="762000"/>
            </a:xfrm>
            <a:prstGeom prst="roundRect">
              <a:avLst>
                <a:gd name="adj" fmla="val 7500"/>
              </a:avLst>
            </a:prstGeom>
            <a:solidFill>
              <a:srgbClr val="F0F3F7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686858" y="1598295"/>
              <a:ext cx="245783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2563A0"/>
                  </a:solidFill>
                  <a:latin typeface="Georgia"/>
                  <a:ea typeface="SimSun"/>
                  <a:cs typeface="Georgia"/>
                </a:rPr>
                <a:t>6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314450" y="2013585"/>
              <a:ext cx="99060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64748B"/>
                  </a:solidFill>
                  <a:latin typeface="Noto Sans CJK SC"/>
                  <a:ea typeface="Microsoft YaHei"/>
                  <a:cs typeface="Noto Sans CJK SC"/>
                </a:rPr>
                <a:t>哺乳动物系统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3048000" y="1571625"/>
              <a:ext cx="2095500" cy="762000"/>
            </a:xfrm>
            <a:prstGeom prst="roundRect">
              <a:avLst>
                <a:gd name="adj" fmla="val 7500"/>
              </a:avLst>
            </a:prstGeom>
            <a:solidFill>
              <a:srgbClr val="F0F3F7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3972858" y="1598295"/>
              <a:ext cx="245783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2563A0"/>
                  </a:solidFill>
                  <a:latin typeface="Georgia"/>
                  <a:ea typeface="SimSun"/>
                  <a:cs typeface="Georgia"/>
                </a:rPr>
                <a:t>5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3760470" y="2013585"/>
              <a:ext cx="67056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64748B"/>
                  </a:solidFill>
                  <a:latin typeface="Noto Sans CJK SC"/>
                  <a:ea typeface="Microsoft YaHei"/>
                  <a:cs typeface="Noto Sans CJK SC"/>
                </a:rPr>
                <a:t>鱼类系统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5334000" y="1571625"/>
              <a:ext cx="2095500" cy="762000"/>
            </a:xfrm>
            <a:prstGeom prst="roundRect">
              <a:avLst>
                <a:gd name="adj" fmla="val 7500"/>
              </a:avLst>
            </a:prstGeom>
            <a:solidFill>
              <a:srgbClr val="F0F3F7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258858" y="1598295"/>
              <a:ext cx="245783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2563A0"/>
                  </a:solidFill>
                  <a:latin typeface="Georgia"/>
                  <a:ea typeface="SimSun"/>
                  <a:cs typeface="Georgia"/>
                </a:rPr>
                <a:t>4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5886450" y="2013585"/>
              <a:ext cx="99060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64748B"/>
                  </a:solidFill>
                  <a:latin typeface="Noto Sans CJK SC"/>
                  <a:ea typeface="Microsoft YaHei"/>
                  <a:cs typeface="Noto Sans CJK SC"/>
                </a:rPr>
                <a:t>浮游动物系统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44855" y="2521268"/>
              <a:ext cx="97940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E293B"/>
                  </a:solidFill>
                  <a:latin typeface="Noto Sans CJK SC"/>
                  <a:ea typeface="Microsoft YaHei"/>
                  <a:cs typeface="Noto Sans CJK SC"/>
                </a:rPr>
                <a:t>代表性序列</a:t>
              </a:r>
            </a:p>
          </p:txBody>
        </p:sp>
        <p:grpSp>
          <p:nvGrpSpPr>
            <p:cNvPr id="25" name="Group 25"/>
            <p:cNvGrpSpPr/>
            <p:nvPr/>
          </p:nvGrpSpPr>
          <p:grpSpPr>
            <a:xfrm>
              <a:off x="748665" y="2791778"/>
              <a:ext cx="3492103" cy="1527810"/>
              <a:chOff x="748665" y="2791778"/>
              <a:chExt cx="3492103" cy="1527810"/>
            </a:xfrm>
          </p:grpSpPr>
          <p:sp>
            <p:nvSpPr>
              <p:cNvPr id="18" name="TextBox 18"/>
              <p:cNvSpPr txBox="1"/>
              <p:nvPr/>
            </p:nvSpPr>
            <p:spPr>
              <a:xfrm>
                <a:off x="748665" y="2791778"/>
                <a:ext cx="2574988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1E293B"/>
                    </a:solidFill>
                    <a:latin typeface="Noto Sans CJK SC"/>
                    <a:ea typeface="Microsoft YaHei"/>
                    <a:cs typeface="Noto Sans CJK SC"/>
                  </a:rPr>
                  <a:t>Isle Royale 狼−驼鹿 (1959–2017, 59点)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748665" y="3010852"/>
                <a:ext cx="2806017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1E293B"/>
                    </a:solidFill>
                    <a:latin typeface="Noto Sans CJK SC"/>
                    <a:ea typeface="Microsoft YaHei"/>
                    <a:cs typeface="Noto Sans CJK SC"/>
                  </a:rPr>
                  <a:t>Andrén 猞猁−狍 七区 (1994–2014, 6–11点)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748665" y="3229928"/>
                <a:ext cx="3051048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1E293B"/>
                    </a:solidFill>
                    <a:latin typeface="Noto Sans CJK SC"/>
                    <a:ea typeface="Microsoft YaHei"/>
                    <a:cs typeface="Noto Sans CJK SC"/>
                  </a:rPr>
                  <a:t>GLERL M110 贻贝−浮游动物 (1994–2014, 21点)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748665" y="3449002"/>
                <a:ext cx="2399967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1E293B"/>
                    </a:solidFill>
                    <a:latin typeface="Noto Sans CJK SC"/>
                    <a:ea typeface="Microsoft YaHei"/>
                    <a:cs typeface="Noto Sans CJK SC"/>
                  </a:rPr>
                  <a:t>Baltic 鳕鱼−鲱鱼 (1974–2011, 38点)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748665" y="3668078"/>
                <a:ext cx="3492103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1E293B"/>
                    </a:solidFill>
                    <a:latin typeface="Noto Sans CJK SC"/>
                    <a:ea typeface="Microsoft YaHei"/>
                    <a:cs typeface="Noto Sans CJK SC"/>
                  </a:rPr>
                  <a:t>Windermere 狗鱼−鲈鱼 两湖盆 (1989–2016, 25–38点)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748665" y="3887152"/>
                <a:ext cx="2497979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1E293B"/>
                    </a:solidFill>
                    <a:latin typeface="Noto Sans CJK SC"/>
                    <a:ea typeface="Microsoft YaHei"/>
                    <a:cs typeface="Noto Sans CJK SC"/>
                  </a:rPr>
                  <a:t>Mývatn 鳟鱼−摇蚊 (1977–2011, 35点)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748665" y="4106228"/>
                <a:ext cx="2525982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1E293B"/>
                    </a:solidFill>
                    <a:latin typeface="Noto Sans CJK SC"/>
                    <a:ea typeface="Microsoft YaHei"/>
                    <a:cs typeface="Noto Sans CJK SC"/>
                  </a:rPr>
                  <a:t>各序列长度从 6 到 59 个年度观测点不等</a:t>
                </a:r>
              </a:p>
            </p:txBody>
          </p:sp>
        </p:grpSp>
        <p:sp>
          <p:nvSpPr>
            <p:cNvPr id="26" name="Rectangle 26"/>
            <p:cNvSpPr/>
            <p:nvPr/>
          </p:nvSpPr>
          <p:spPr>
            <a:xfrm>
              <a:off x="762000" y="4457700"/>
              <a:ext cx="6667500" cy="342900"/>
            </a:xfrm>
            <a:prstGeom prst="roundRect">
              <a:avLst>
                <a:gd name="adj" fmla="val 16667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940118" y="4590574"/>
              <a:ext cx="625904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92400E"/>
                  </a:solidFill>
                  <a:latin typeface="Noto Sans CJK SC"/>
                  <a:ea typeface="Microsoft YaHei"/>
                  <a:cs typeface="Noto Sans CJK SC"/>
                </a:rPr>
                <a:t>Andrén 七区、Killifish 三站与 Windermere 两湖盆存在研究内重复，15 条序列不能视为 15 个独立生态证据</a:t>
              </a:r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8001000" y="1285875"/>
            <a:ext cx="3810000" cy="4953000"/>
            <a:chOff x="8001000" y="1285875"/>
            <a:chExt cx="3810000" cy="4953000"/>
          </a:xfrm>
        </p:grpSpPr>
        <p:sp>
          <p:nvSpPr>
            <p:cNvPr id="29" name="Rectangle 29"/>
            <p:cNvSpPr/>
            <p:nvPr/>
          </p:nvSpPr>
          <p:spPr>
            <a:xfrm>
              <a:off x="8001000" y="1285875"/>
              <a:ext cx="3810000" cy="4953000"/>
            </a:xfrm>
            <a:prstGeom prst="roundRect">
              <a:avLst>
                <a:gd name="adj" fmla="val 2000"/>
              </a:avLst>
            </a:prstGeom>
            <a:solidFill>
              <a:srgbClr val="FFFFFF"/>
            </a:solidFill>
            <a:ln w="9525">
              <a:solidFill>
                <a:srgbClr val="CBD5E1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9269803" y="1473518"/>
              <a:ext cx="127239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1B3A5C"/>
                  </a:solidFill>
                  <a:latin typeface="Noto Sans CJK SC"/>
                  <a:ea typeface="Microsoft YaHei"/>
                  <a:cs typeface="Noto Sans CJK SC"/>
                </a:rPr>
                <a:t>拟合—验证协议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8286750" y="1857375"/>
              <a:ext cx="3238500" cy="666750"/>
            </a:xfrm>
            <a:prstGeom prst="roundRect">
              <a:avLst>
                <a:gd name="adj" fmla="val 8571"/>
              </a:avLst>
            </a:prstGeom>
            <a:solidFill>
              <a:srgbClr val="F0F3F7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8462962" y="1974056"/>
              <a:ext cx="128085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2563A0"/>
                  </a:solidFill>
                  <a:latin typeface="Noto Sans CJK SC"/>
                  <a:ea typeface="Microsoft YaHei"/>
                  <a:cs typeface="Noto Sans CJK SC"/>
                </a:rPr>
                <a:t>1. 训练/验证分割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8463915" y="2210752"/>
              <a:ext cx="165087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E293B"/>
                  </a:solidFill>
                  <a:latin typeface="Noto Sans CJK SC"/>
                  <a:ea typeface="Microsoft YaHei"/>
                  <a:cs typeface="Noto Sans CJK SC"/>
                </a:rPr>
                <a:t>前 80% 时间点 → 参数拟合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8463915" y="2382202"/>
              <a:ext cx="221094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E293B"/>
                  </a:solidFill>
                  <a:latin typeface="Noto Sans CJK SC"/>
                  <a:ea typeface="Microsoft YaHei"/>
                  <a:cs typeface="Noto Sans CJK SC"/>
                </a:rPr>
                <a:t>后 20% 时间点 → 连续多步留后预测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9831943" y="2600325"/>
              <a:ext cx="148114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CBD5E1"/>
                  </a:solidFill>
                  <a:latin typeface="Noto Sans CJK SC"/>
                  <a:ea typeface="Microsoft YaHei"/>
                  <a:cs typeface="Noto Sans CJK SC"/>
                </a:rPr>
                <a:t>↓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8286750" y="2857500"/>
              <a:ext cx="3238500" cy="809625"/>
            </a:xfrm>
            <a:prstGeom prst="roundRect">
              <a:avLst>
                <a:gd name="adj" fmla="val 7059"/>
              </a:avLst>
            </a:prstGeom>
            <a:solidFill>
              <a:srgbClr val="F0F3F7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8462962" y="2974181"/>
              <a:ext cx="135174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2563A0"/>
                  </a:solidFill>
                  <a:latin typeface="Noto Sans CJK SC"/>
                  <a:ea typeface="Microsoft YaHei"/>
                  <a:cs typeface="Noto Sans CJK SC"/>
                </a:rPr>
                <a:t>2. 三模型独立拟合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8463915" y="3210878"/>
              <a:ext cx="192390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E293B"/>
                  </a:solidFill>
                  <a:latin typeface="Noto Sans CJK SC"/>
                  <a:ea typeface="Microsoft YaHei"/>
                  <a:cs typeface="Noto Sans CJK SC"/>
                </a:rPr>
                <a:t>· Baseline (6参数, Holling II)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8463915" y="3410902"/>
              <a:ext cx="226695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E293B"/>
                  </a:solidFill>
                  <a:latin typeface="Noto Sans CJK SC"/>
                  <a:ea typeface="Microsoft YaHei"/>
                  <a:cs typeface="Noto Sans CJK SC"/>
                </a:rPr>
                <a:t>· Fear-Memory (7参数, +φ, η, δ)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8465820" y="3522345"/>
              <a:ext cx="167306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4A3B8"/>
                  </a:solidFill>
                  <a:latin typeface="Noto Sans CJK SC"/>
                  <a:ea typeface="Microsoft YaHei"/>
                  <a:cs typeface="Noto Sans CJK SC"/>
                </a:rPr>
                <a:t>M 初值固定为零 · 衰减率 δ = 1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9831943" y="3743325"/>
              <a:ext cx="148114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CBD5E1"/>
                  </a:solidFill>
                  <a:latin typeface="Noto Sans CJK SC"/>
                  <a:ea typeface="Microsoft YaHei"/>
                  <a:cs typeface="Noto Sans CJK SC"/>
                </a:rPr>
                <a:t>↓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8286750" y="4000500"/>
              <a:ext cx="3238500" cy="666750"/>
            </a:xfrm>
            <a:prstGeom prst="roundRect">
              <a:avLst>
                <a:gd name="adj" fmla="val 8571"/>
              </a:avLst>
            </a:prstGeom>
            <a:solidFill>
              <a:srgbClr val="F0F3F7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8462962" y="4117181"/>
              <a:ext cx="119422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2563A0"/>
                  </a:solidFill>
                  <a:latin typeface="Noto Sans CJK SC"/>
                  <a:ea typeface="Microsoft YaHei"/>
                  <a:cs typeface="Noto Sans CJK SC"/>
                </a:rPr>
                <a:t>3. 双重评价体系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8463915" y="4353878"/>
              <a:ext cx="208492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E293B"/>
                  </a:solidFill>
                  <a:latin typeface="Noto Sans CJK SC"/>
                  <a:ea typeface="Microsoft YaHei"/>
                  <a:cs typeface="Noto Sans CJK SC"/>
                </a:rPr>
                <a:t>归一化 RMSE（留后段预测精度）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8463915" y="4525328"/>
              <a:ext cx="186089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E293B"/>
                  </a:solidFill>
                  <a:latin typeface="Noto Sans CJK SC"/>
                  <a:ea typeface="Microsoft YaHei"/>
                  <a:cs typeface="Noto Sans CJK SC"/>
                </a:rPr>
                <a:t>AICc（拟合优度 + 参数惩罚）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9831943" y="4743450"/>
              <a:ext cx="148114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CBD5E1"/>
                  </a:solidFill>
                  <a:latin typeface="Noto Sans CJK SC"/>
                  <a:ea typeface="Microsoft YaHei"/>
                  <a:cs typeface="Noto Sans CJK SC"/>
                </a:rPr>
                <a:t>↓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8286750" y="5000625"/>
              <a:ext cx="3238500" cy="571500"/>
            </a:xfrm>
            <a:prstGeom prst="roundRect">
              <a:avLst>
                <a:gd name="adj" fmla="val 10000"/>
              </a:avLst>
            </a:prstGeom>
            <a:solidFill>
              <a:srgbClr val="1B3A5C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8802824" y="5156835"/>
              <a:ext cx="220635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Noto Sans CJK SC"/>
                  <a:ea typeface="Microsoft YaHei"/>
                  <a:cs typeface="Noto Sans CJK SC"/>
                </a:rPr>
                <a:t>45 次拟合 · 15 序列 × 3 模型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9012757" y="5400199"/>
              <a:ext cx="178648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CBD5E1"/>
                  </a:solidFill>
                  <a:latin typeface="Noto Sans CJK SC"/>
                  <a:ea typeface="Microsoft YaHei"/>
                  <a:cs typeface="Noto Sans CJK SC"/>
                </a:rPr>
                <a:t>全部 success 或 usable_limit</a:t>
              </a:r>
            </a:p>
          </p:txBody>
        </p:sp>
      </p:grpSp>
      <p:sp>
        <p:nvSpPr>
          <p:cNvPr id="51" name="TextBox 51"/>
          <p:cNvSpPr txBox="1"/>
          <p:nvPr/>
        </p:nvSpPr>
        <p:spPr>
          <a:xfrm>
            <a:off x="11241476" y="6483191"/>
            <a:ext cx="389501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94A3B8"/>
                </a:solidFill>
                <a:latin typeface="Noto Sans CJK SC"/>
                <a:ea typeface="Microsoft YaHei"/>
                <a:cs typeface="Noto Sans CJK SC"/>
              </a:rPr>
              <a:t>07 / 13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9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23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400"/>
                            </p:stCondLst>
                            <p:childTnLst>
                              <p:par>
                                <p:cTn id="2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4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6300"/>
                            </p:stCondLst>
                            <p:childTnLst>
                              <p:par>
                                <p:cTn id="3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5" dur="4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6" grpId="0"/>
      <p:bldP spid="28" grpId="0"/>
      <p:bldP spid="50" grpId="0"/>
      <p:bldP spid="51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B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571500" y="381000"/>
            <a:ext cx="38100" cy="342900"/>
          </a:xfrm>
          <a:prstGeom prst="roundRect">
            <a:avLst>
              <a:gd name="adj" fmla="val 50000"/>
            </a:avLst>
          </a:prstGeom>
          <a:solidFill>
            <a:srgbClr val="1B3A5C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693420" y="369570"/>
            <a:ext cx="2413254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1B3A5C"/>
                </a:solidFill>
                <a:latin typeface="Noto Sans CJK SC"/>
                <a:ea typeface="Microsoft YaHei"/>
                <a:cs typeface="Noto Sans CJK SC"/>
              </a:rPr>
              <a:t>三模型预测比较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10565" y="724852"/>
            <a:ext cx="400316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94A3B8"/>
                </a:solidFill>
                <a:latin typeface="Noto Sans CJK SC"/>
                <a:ea typeface="Microsoft YaHei"/>
                <a:cs typeface="Noto Sans CJK SC"/>
              </a:rPr>
              <a:t>Isle Royale 狼−驼鹿 (1959–2017) · 三模型拟合与留后验证并列</a:t>
            </a:r>
          </a:p>
        </p:txBody>
      </p:sp>
      <p:sp>
        <p:nvSpPr>
          <p:cNvPr id="6" name="Line 6"/>
          <p:cNvSpPr/>
          <p:nvPr/>
        </p:nvSpPr>
        <p:spPr>
          <a:xfrm>
            <a:off x="571500" y="1000125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CBD5E1"/>
            </a:solidFill>
          </a:ln>
        </p:spPr>
      </p:sp>
      <p:grpSp>
        <p:nvGrpSpPr>
          <p:cNvPr id="22" name="Group 22"/>
          <p:cNvGrpSpPr/>
          <p:nvPr/>
        </p:nvGrpSpPr>
        <p:grpSpPr>
          <a:xfrm>
            <a:off x="571500" y="1143000"/>
            <a:ext cx="11049000" cy="3238500"/>
            <a:chOff x="571500" y="1143000"/>
            <a:chExt cx="11049000" cy="3238500"/>
          </a:xfrm>
        </p:grpSpPr>
        <p:sp>
          <p:nvSpPr>
            <p:cNvPr id="7" name="Rectangle 7"/>
            <p:cNvSpPr/>
            <p:nvPr/>
          </p:nvSpPr>
          <p:spPr>
            <a:xfrm>
              <a:off x="571500" y="1143000"/>
              <a:ext cx="3619500" cy="3238500"/>
            </a:xfrm>
            <a:prstGeom prst="roundRect">
              <a:avLst>
                <a:gd name="adj" fmla="val 2353"/>
              </a:avLst>
            </a:prstGeom>
            <a:solidFill>
              <a:srgbClr val="FFFFFF"/>
            </a:solidFill>
            <a:ln w="9525">
              <a:solidFill>
                <a:srgbClr val="CBD5E1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71500" y="1143000"/>
              <a:ext cx="3619500" cy="342900"/>
            </a:xfrm>
            <a:prstGeom prst="roundRect">
              <a:avLst>
                <a:gd name="adj" fmla="val 22222"/>
              </a:avLst>
            </a:prstGeom>
            <a:solidFill>
              <a:srgbClr val="1B3A5C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571500" y="1295400"/>
              <a:ext cx="3619500" cy="190500"/>
            </a:xfrm>
            <a:prstGeom prst="rect">
              <a:avLst/>
            </a:prstGeom>
            <a:solidFill>
              <a:srgbClr val="1B3A5C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634496" y="1250156"/>
              <a:ext cx="149350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FFFFFF"/>
                  </a:solidFill>
                  <a:latin typeface="Noto Sans CJK SC"/>
                  <a:ea typeface="Microsoft YaHei"/>
                  <a:cs typeface="Noto Sans CJK SC"/>
                </a:rPr>
                <a:t>Baseline (Holling II)</a:t>
              </a:r>
            </a:p>
          </p:txBody>
        </p:sp>
        <p:pic>
          <p:nvPicPr>
            <p:cNvPr id="11" name="Image 11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66750" y="1785938"/>
              <a:ext cx="3429000" cy="2286000"/>
            </a:xfrm>
            <a:prstGeom prst="rect">
              <a:avLst/>
            </a:prstGeom>
          </p:spPr>
        </p:pic>
        <p:sp>
          <p:nvSpPr>
            <p:cNvPr id="12" name="Rectangle 12"/>
            <p:cNvSpPr/>
            <p:nvPr/>
          </p:nvSpPr>
          <p:spPr>
            <a:xfrm>
              <a:off x="4286250" y="1143000"/>
              <a:ext cx="3619500" cy="3238500"/>
            </a:xfrm>
            <a:prstGeom prst="roundRect">
              <a:avLst>
                <a:gd name="adj" fmla="val 2353"/>
              </a:avLst>
            </a:prstGeom>
            <a:solidFill>
              <a:srgbClr val="FFFFFF"/>
            </a:solidFill>
            <a:ln w="9525">
              <a:solidFill>
                <a:srgbClr val="CBD5E1"/>
              </a:solidFill>
            </a:ln>
          </p:spPr>
        </p:sp>
        <p:sp>
          <p:nvSpPr>
            <p:cNvPr id="13" name="Rectangle 13"/>
            <p:cNvSpPr/>
            <p:nvPr/>
          </p:nvSpPr>
          <p:spPr>
            <a:xfrm>
              <a:off x="4286250" y="1143000"/>
              <a:ext cx="3619500" cy="342900"/>
            </a:xfrm>
            <a:prstGeom prst="roundRect">
              <a:avLst>
                <a:gd name="adj" fmla="val 22222"/>
              </a:avLst>
            </a:prstGeom>
            <a:solidFill>
              <a:srgbClr val="2563A0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4286250" y="1295400"/>
              <a:ext cx="3619500" cy="190500"/>
            </a:xfrm>
            <a:prstGeom prst="rect">
              <a:avLst/>
            </a:prstGeom>
            <a:solidFill>
              <a:srgbClr val="2563A0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5069649" y="1250156"/>
              <a:ext cx="205270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FFFFFF"/>
                  </a:solidFill>
                  <a:latin typeface="Noto Sans CJK SC"/>
                  <a:ea typeface="Microsoft YaHei"/>
                  <a:cs typeface="Noto Sans CJK SC"/>
                </a:rPr>
                <a:t>Fear-Memory (指数记忆核)</a:t>
              </a:r>
            </a:p>
          </p:txBody>
        </p:sp>
        <p:pic>
          <p:nvPicPr>
            <p:cNvPr id="16" name="Image 16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381500" y="1785938"/>
              <a:ext cx="3429000" cy="2286000"/>
            </a:xfrm>
            <a:prstGeom prst="rect">
              <a:avLst/>
            </a:prstGeom>
          </p:spPr>
        </p:pic>
        <p:sp>
          <p:nvSpPr>
            <p:cNvPr id="17" name="Rectangle 17"/>
            <p:cNvSpPr/>
            <p:nvPr/>
          </p:nvSpPr>
          <p:spPr>
            <a:xfrm>
              <a:off x="8001000" y="1143000"/>
              <a:ext cx="3619500" cy="3238500"/>
            </a:xfrm>
            <a:prstGeom prst="roundRect">
              <a:avLst>
                <a:gd name="adj" fmla="val 2353"/>
              </a:avLst>
            </a:prstGeom>
            <a:solidFill>
              <a:srgbClr val="FFFFFF"/>
            </a:solidFill>
            <a:ln w="9525">
              <a:solidFill>
                <a:srgbClr val="CBD5E1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8001000" y="1143000"/>
              <a:ext cx="3619500" cy="342900"/>
            </a:xfrm>
            <a:prstGeom prst="roundRect">
              <a:avLst>
                <a:gd name="adj" fmla="val 22222"/>
              </a:avLst>
            </a:prstGeom>
            <a:solidFill>
              <a:srgbClr val="4A90B8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8001000" y="1295400"/>
              <a:ext cx="3619500" cy="190500"/>
            </a:xfrm>
            <a:prstGeom prst="rect">
              <a:avLst/>
            </a:prstGeom>
            <a:solidFill>
              <a:srgbClr val="4A90B8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8977360" y="1250156"/>
              <a:ext cx="166678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FFFFFF"/>
                  </a:solidFill>
                  <a:latin typeface="Noto Sans CJK SC"/>
                  <a:ea typeface="Microsoft YaHei"/>
                  <a:cs typeface="Noto Sans CJK SC"/>
                </a:rPr>
                <a:t>B-D + Fear (高灵活度)</a:t>
              </a:r>
            </a:p>
          </p:txBody>
        </p:sp>
        <p:pic>
          <p:nvPicPr>
            <p:cNvPr id="21" name="Image 21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096250" y="1785938"/>
              <a:ext cx="3429000" cy="2286000"/>
            </a:xfrm>
            <a:prstGeom prst="rect">
              <a:avLst/>
            </a:prstGeom>
          </p:spPr>
        </p:pic>
      </p:grpSp>
      <p:grpSp>
        <p:nvGrpSpPr>
          <p:cNvPr id="36" name="Group 36"/>
          <p:cNvGrpSpPr/>
          <p:nvPr/>
        </p:nvGrpSpPr>
        <p:grpSpPr>
          <a:xfrm>
            <a:off x="741045" y="4584382"/>
            <a:ext cx="10879455" cy="1178243"/>
            <a:chOff x="741045" y="4584382"/>
            <a:chExt cx="10879455" cy="1178243"/>
          </a:xfrm>
        </p:grpSpPr>
        <p:sp>
          <p:nvSpPr>
            <p:cNvPr id="23" name="TextBox 23"/>
            <p:cNvSpPr txBox="1"/>
            <p:nvPr/>
          </p:nvSpPr>
          <p:spPr>
            <a:xfrm>
              <a:off x="741045" y="4584382"/>
              <a:ext cx="2675639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E293B"/>
                  </a:solidFill>
                  <a:latin typeface="Noto Sans CJK SC"/>
                  <a:ea typeface="Microsoft YaHei"/>
                  <a:cs typeface="Noto Sans CJK SC"/>
                </a:rPr>
                <a:t>15 条序列三模型比较汇总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762000" y="4953000"/>
              <a:ext cx="2571750" cy="809625"/>
            </a:xfrm>
            <a:prstGeom prst="roundRect">
              <a:avLst>
                <a:gd name="adj" fmla="val 9412"/>
              </a:avLst>
            </a:prstGeom>
            <a:solidFill>
              <a:srgbClr val="1B3A5C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1597733" y="4994910"/>
              <a:ext cx="900284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700" b="1" dirty="0">
                  <a:solidFill>
                    <a:srgbClr val="FFFFFF"/>
                  </a:solidFill>
                  <a:latin typeface="Georgia"/>
                  <a:ea typeface="SimSun"/>
                  <a:cs typeface="Georgia"/>
                </a:rPr>
                <a:t>9/15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236536" y="5442585"/>
              <a:ext cx="1622679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CBD5E1"/>
                  </a:solidFill>
                  <a:latin typeface="Noto Sans CJK SC"/>
                  <a:ea typeface="Microsoft YaHei"/>
                  <a:cs typeface="Noto Sans CJK SC"/>
                </a:rPr>
                <a:t>B-D 留后验证单独最优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3524250" y="4953000"/>
              <a:ext cx="2571750" cy="809625"/>
            </a:xfrm>
            <a:prstGeom prst="roundRect">
              <a:avLst>
                <a:gd name="adj" fmla="val 9412"/>
              </a:avLst>
            </a:prstGeom>
            <a:solidFill>
              <a:srgbClr val="2563A0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4359983" y="4994910"/>
              <a:ext cx="900284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700" b="1" dirty="0">
                  <a:solidFill>
                    <a:srgbClr val="FFFFFF"/>
                  </a:solidFill>
                  <a:latin typeface="Georgia"/>
                  <a:ea typeface="SimSun"/>
                  <a:cs typeface="Georgia"/>
                </a:rPr>
                <a:t>3/15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3818763" y="5442585"/>
              <a:ext cx="198272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CBD5E1"/>
                  </a:solidFill>
                  <a:latin typeface="Noto Sans CJK SC"/>
                  <a:ea typeface="Microsoft YaHei"/>
                  <a:cs typeface="Noto Sans CJK SC"/>
                </a:rPr>
                <a:t>Baseline 留后验证单独最优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6286500" y="4953000"/>
              <a:ext cx="2571750" cy="809625"/>
            </a:xfrm>
            <a:prstGeom prst="roundRect">
              <a:avLst>
                <a:gd name="adj" fmla="val 9412"/>
              </a:avLst>
            </a:prstGeom>
            <a:solidFill>
              <a:srgbClr val="4A90B8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122233" y="4994910"/>
              <a:ext cx="900284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700" b="1" dirty="0">
                  <a:solidFill>
                    <a:srgbClr val="FFFFFF"/>
                  </a:solidFill>
                  <a:latin typeface="Georgia"/>
                  <a:ea typeface="SimSun"/>
                  <a:cs typeface="Georgia"/>
                </a:rPr>
                <a:t>2/15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697028" y="5442585"/>
              <a:ext cx="1750695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FFFFFF"/>
                  </a:solidFill>
                  <a:latin typeface="Noto Sans CJK SC"/>
                  <a:ea typeface="Microsoft YaHei"/>
                  <a:cs typeface="Noto Sans CJK SC"/>
                </a:rPr>
                <a:t>Fear-Memory 留后最优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9048750" y="4953000"/>
              <a:ext cx="2571750" cy="809625"/>
            </a:xfrm>
            <a:prstGeom prst="roundRect">
              <a:avLst>
                <a:gd name="adj" fmla="val 9412"/>
              </a:avLst>
            </a:prstGeom>
            <a:solidFill>
              <a:srgbClr val="F0F3F7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9884483" y="4994910"/>
              <a:ext cx="900284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700" b="1" dirty="0">
                  <a:solidFill>
                    <a:srgbClr val="DC2626"/>
                  </a:solidFill>
                  <a:latin typeface="Georgia"/>
                  <a:ea typeface="SimSun"/>
                  <a:cs typeface="Georgia"/>
                </a:rPr>
                <a:t>1/15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9675304" y="5442585"/>
              <a:ext cx="1318641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64748B"/>
                  </a:solidFill>
                  <a:latin typeface="Noto Sans CJK SC"/>
                  <a:ea typeface="Microsoft YaHei"/>
                  <a:cs typeface="Noto Sans CJK SC"/>
                </a:rPr>
                <a:t>GLERL 三模型并列</a:t>
              </a:r>
            </a:p>
          </p:txBody>
        </p:sp>
      </p:grpSp>
      <p:sp>
        <p:nvSpPr>
          <p:cNvPr id="37" name="Rectangle 37"/>
          <p:cNvSpPr/>
          <p:nvPr/>
        </p:nvSpPr>
        <p:spPr>
          <a:xfrm>
            <a:off x="762000" y="5953125"/>
            <a:ext cx="10668000" cy="428625"/>
          </a:xfrm>
          <a:prstGeom prst="roundRect">
            <a:avLst>
              <a:gd name="adj" fmla="val 13333"/>
            </a:avLst>
          </a:prstGeom>
          <a:solidFill>
            <a:srgbClr val="FEF3C7"/>
          </a:solidFill>
          <a:ln>
            <a:noFill/>
          </a:ln>
        </p:spPr>
      </p:sp>
      <p:sp>
        <p:nvSpPr>
          <p:cNvPr id="38" name="TextBox 38"/>
          <p:cNvSpPr txBox="1"/>
          <p:nvPr/>
        </p:nvSpPr>
        <p:spPr>
          <a:xfrm>
            <a:off x="3276409" y="6099810"/>
            <a:ext cx="5639181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92400E"/>
                </a:solidFill>
                <a:latin typeface="Noto Sans CJK SC"/>
                <a:ea typeface="Microsoft YaHei"/>
                <a:cs typeface="Noto Sans CJK SC"/>
              </a:rPr>
              <a:t>留后验证 B-D 最优 · AICc Baseline 最优 13/15 · 预测能力与复杂度偏好不一致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11241476" y="6483191"/>
            <a:ext cx="389501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94A3B8"/>
                </a:solidFill>
                <a:latin typeface="Noto Sans CJK SC"/>
                <a:ea typeface="Microsoft YaHei"/>
                <a:cs typeface="Noto Sans CJK SC"/>
              </a:rPr>
              <a:t>08 / 13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B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571500" y="381000"/>
            <a:ext cx="38100" cy="342900"/>
          </a:xfrm>
          <a:prstGeom prst="roundRect">
            <a:avLst>
              <a:gd name="adj" fmla="val 50000"/>
            </a:avLst>
          </a:prstGeom>
          <a:solidFill>
            <a:srgbClr val="1B3A5C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693420" y="369570"/>
            <a:ext cx="1741170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1B3A5C"/>
                </a:solidFill>
                <a:latin typeface="Noto Sans CJK SC"/>
                <a:ea typeface="Microsoft YaHei"/>
                <a:cs typeface="Noto Sans CJK SC"/>
              </a:rPr>
              <a:t>七模型扩展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10565" y="724852"/>
            <a:ext cx="450022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94A3B8"/>
                </a:solidFill>
                <a:latin typeface="Noto Sans CJK SC"/>
                <a:ea typeface="Microsoft YaHei"/>
                <a:cs typeface="Noto Sans CJK SC"/>
              </a:rPr>
              <a:t>与 report.tex 相同实验口径 · 15 序列 × 7 模型 · 105/105 拟合可比较</a:t>
            </a:r>
          </a:p>
        </p:txBody>
      </p:sp>
      <p:sp>
        <p:nvSpPr>
          <p:cNvPr id="6" name="Line 6"/>
          <p:cNvSpPr/>
          <p:nvPr/>
        </p:nvSpPr>
        <p:spPr>
          <a:xfrm>
            <a:off x="571500" y="1000125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CBD5E1"/>
            </a:solidFill>
          </a:ln>
        </p:spPr>
      </p:sp>
      <p:grpSp>
        <p:nvGrpSpPr>
          <p:cNvPr id="29" name="Group 29"/>
          <p:cNvGrpSpPr/>
          <p:nvPr/>
        </p:nvGrpSpPr>
        <p:grpSpPr>
          <a:xfrm>
            <a:off x="741045" y="1203008"/>
            <a:ext cx="3848695" cy="5331142"/>
            <a:chOff x="741045" y="1203008"/>
            <a:chExt cx="3848695" cy="5331142"/>
          </a:xfrm>
        </p:grpSpPr>
        <p:sp>
          <p:nvSpPr>
            <p:cNvPr id="7" name="TextBox 7"/>
            <p:cNvSpPr txBox="1"/>
            <p:nvPr/>
          </p:nvSpPr>
          <p:spPr>
            <a:xfrm>
              <a:off x="741045" y="1203008"/>
              <a:ext cx="1197054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E293B"/>
                  </a:solidFill>
                  <a:latin typeface="Noto Sans CJK SC"/>
                  <a:ea typeface="Microsoft YaHei"/>
                  <a:cs typeface="Noto Sans CJK SC"/>
                </a:rPr>
                <a:t>七模型体系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48665" y="1553528"/>
              <a:ext cx="305104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4748B"/>
                  </a:solidFill>
                  <a:latin typeface="Noto Sans CJK SC"/>
                  <a:ea typeface="Microsoft YaHei"/>
                  <a:cs typeface="Noto Sans CJK SC"/>
                </a:rPr>
                <a:t>均使用 Holling II 功能反应，只在恐惧通道上不同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762000" y="1857375"/>
              <a:ext cx="3333750" cy="400050"/>
            </a:xfrm>
            <a:prstGeom prst="roundRect">
              <a:avLst>
                <a:gd name="adj" fmla="val 14286"/>
              </a:avLst>
            </a:prstGeom>
            <a:solidFill>
              <a:srgbClr val="F0F3F7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937260" y="1985010"/>
              <a:ext cx="2182749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E293B"/>
                  </a:solidFill>
                  <a:latin typeface="Noto Sans CJK SC"/>
                  <a:ea typeface="Microsoft YaHei"/>
                  <a:cs typeface="Noto Sans CJK SC"/>
                </a:rPr>
                <a:t>1. Baseline · 无恐惧 · 6 参数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762000" y="2352675"/>
              <a:ext cx="3333750" cy="400050"/>
            </a:xfrm>
            <a:prstGeom prst="roundRect">
              <a:avLst>
                <a:gd name="adj" fmla="val 14286"/>
              </a:avLst>
            </a:prstGeom>
            <a:solidFill>
              <a:srgbClr val="F0F3F7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937260" y="2480310"/>
              <a:ext cx="291084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E293B"/>
                  </a:solidFill>
                  <a:latin typeface="Noto Sans CJK SC"/>
                  <a:ea typeface="Microsoft YaHei"/>
                  <a:cs typeface="Noto Sans CJK SC"/>
                </a:rPr>
                <a:t>2. Fear-Memory · 指数记忆核 · 7 参数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762000" y="2847975"/>
              <a:ext cx="3333750" cy="400050"/>
            </a:xfrm>
            <a:prstGeom prst="roundRect">
              <a:avLst>
                <a:gd name="adj" fmla="val 14286"/>
              </a:avLst>
            </a:prstGeom>
            <a:solidFill>
              <a:srgbClr val="F0F3F7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937260" y="2975610"/>
              <a:ext cx="305485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E293B"/>
                  </a:solidFill>
                  <a:latin typeface="Noto Sans CJK SC"/>
                  <a:ea typeface="Microsoft YaHei"/>
                  <a:cs typeface="Noto Sans CJK SC"/>
                </a:rPr>
                <a:t>3. Fear-Instant · 瞬时繁殖抑制 · 7 参数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762000" y="3343275"/>
              <a:ext cx="3333750" cy="400050"/>
            </a:xfrm>
            <a:prstGeom prst="roundRect">
              <a:avLst>
                <a:gd name="adj" fmla="val 14286"/>
              </a:avLst>
            </a:prstGeom>
            <a:solidFill>
              <a:srgbClr val="F0F3F7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937260" y="3470910"/>
              <a:ext cx="318287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E293B"/>
                  </a:solidFill>
                  <a:latin typeface="Noto Sans CJK SC"/>
                  <a:ea typeface="Microsoft YaHei"/>
                  <a:cs typeface="Noto Sans CJK SC"/>
                </a:rPr>
                <a:t>4. Fear-Saturating · Zanette 型 · 7 参数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762000" y="3838575"/>
              <a:ext cx="3333750" cy="400050"/>
            </a:xfrm>
            <a:prstGeom prst="roundRect">
              <a:avLst>
                <a:gd name="adj" fmla="val 14286"/>
              </a:avLst>
            </a:prstGeom>
            <a:solidFill>
              <a:srgbClr val="F0F3F7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937260" y="3966210"/>
              <a:ext cx="327888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E293B"/>
                  </a:solidFill>
                  <a:latin typeface="Noto Sans CJK SC"/>
                  <a:ea typeface="Microsoft YaHei"/>
                  <a:cs typeface="Noto Sans CJK SC"/>
                </a:rPr>
                <a:t>5. Fear-Foraging · Lima/Preisser · 7 参数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762000" y="4333875"/>
              <a:ext cx="3333750" cy="400050"/>
            </a:xfrm>
            <a:prstGeom prst="roundRect">
              <a:avLst>
                <a:gd name="adj" fmla="val 14286"/>
              </a:avLst>
            </a:prstGeom>
            <a:solidFill>
              <a:srgbClr val="F0F3F7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937260" y="4461510"/>
              <a:ext cx="310286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E293B"/>
                  </a:solidFill>
                  <a:latin typeface="Noto Sans CJK SC"/>
                  <a:ea typeface="Microsoft YaHei"/>
                  <a:cs typeface="Noto Sans CJK SC"/>
                </a:rPr>
                <a:t>6. Fear-Handling · 处理时间延长 · 7 参数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762000" y="4829175"/>
              <a:ext cx="3333750" cy="400050"/>
            </a:xfrm>
            <a:prstGeom prst="roundRect">
              <a:avLst>
                <a:gd name="adj" fmla="val 14286"/>
              </a:avLst>
            </a:prstGeom>
            <a:solidFill>
              <a:srgbClr val="4A90B8">
                <a:alpha val="12000"/>
              </a:srgbClr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937260" y="4956810"/>
              <a:ext cx="2422779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4A90B8"/>
                  </a:solidFill>
                  <a:latin typeface="Noto Sans CJK SC"/>
                  <a:ea typeface="Microsoft YaHei"/>
                  <a:cs typeface="Noto Sans CJK SC"/>
                </a:rPr>
                <a:t>7. B-D+Fear · 高灵活度 · 8 参数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44855" y="5378768"/>
              <a:ext cx="1924526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E293B"/>
                  </a:solidFill>
                  <a:latin typeface="Noto Sans CJK SC"/>
                  <a:ea typeface="Microsoft YaHei"/>
                  <a:cs typeface="Noto Sans CJK SC"/>
                </a:rPr>
                <a:t>留后验证单独最优次数</a:t>
              </a:r>
            </a:p>
          </p:txBody>
        </p:sp>
        <p:grpSp>
          <p:nvGrpSpPr>
            <p:cNvPr id="26" name="Group 26"/>
            <p:cNvGrpSpPr/>
            <p:nvPr/>
          </p:nvGrpSpPr>
          <p:grpSpPr>
            <a:xfrm>
              <a:off x="938212" y="5669756"/>
              <a:ext cx="3651528" cy="438150"/>
              <a:chOff x="938212" y="5669756"/>
              <a:chExt cx="3651528" cy="438150"/>
            </a:xfrm>
          </p:grpSpPr>
          <p:sp>
            <p:nvSpPr>
              <p:cNvPr id="24" name="TextBox 24"/>
              <p:cNvSpPr txBox="1"/>
              <p:nvPr/>
            </p:nvSpPr>
            <p:spPr>
              <a:xfrm>
                <a:off x="938212" y="5669756"/>
                <a:ext cx="3126462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1E293B"/>
                    </a:solidFill>
                    <a:latin typeface="Noto Sans CJK SC"/>
                    <a:ea typeface="Microsoft YaHei"/>
                    <a:cs typeface="Noto Sans CJK SC"/>
                  </a:rPr>
                  <a:t xml:space="preserve">B-D+Fear: </a:t>
                </a:r>
                <a:r>
                  <a:rPr lang="zh-CN" sz="1125" b="1" dirty="0">
                    <a:solidFill>
                      <a:srgbClr val="DC2626"/>
                    </a:solidFill>
                    <a:latin typeface="Noto Sans CJK SC"/>
                    <a:ea typeface="Microsoft YaHei"/>
                    <a:cs typeface="Noto Sans CJK SC"/>
                  </a:rPr>
                  <a:t>6</a:t>
                </a:r>
                <a:r>
                  <a:rPr lang="zh-CN" sz="1125" dirty="0">
                    <a:solidFill>
                      <a:srgbClr val="1E293B"/>
                    </a:solidFill>
                    <a:latin typeface="Noto Sans CJK SC"/>
                    <a:ea typeface="Microsoft YaHei"/>
                    <a:cs typeface="Noto Sans CJK SC"/>
                  </a:rPr>
                  <a:t xml:space="preserve"> | Fear-Instant: 3 | Baseline: 2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938212" y="5879306"/>
                <a:ext cx="3651528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1E293B"/>
                    </a:solidFill>
                    <a:latin typeface="Noto Sans CJK SC"/>
                    <a:ea typeface="Microsoft YaHei"/>
                    <a:cs typeface="Noto Sans CJK SC"/>
                  </a:rPr>
                  <a:t>Fear-Memory: 2 | Fear-Handling: 1 | GLERL 并列: 1</a:t>
                </a:r>
              </a:p>
            </p:txBody>
          </p:sp>
        </p:grpSp>
        <p:sp>
          <p:nvSpPr>
            <p:cNvPr id="27" name="Rectangle 27"/>
            <p:cNvSpPr/>
            <p:nvPr/>
          </p:nvSpPr>
          <p:spPr>
            <a:xfrm>
              <a:off x="762000" y="6191250"/>
              <a:ext cx="3333750" cy="342900"/>
            </a:xfrm>
            <a:prstGeom prst="roundRect">
              <a:avLst>
                <a:gd name="adj" fmla="val 16667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1645444" y="6306502"/>
              <a:ext cx="156686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92400E"/>
                  </a:solidFill>
                  <a:latin typeface="Noto Sans CJK SC"/>
                  <a:ea typeface="Microsoft YaHei"/>
                  <a:cs typeface="Noto Sans CJK SC"/>
                </a:rPr>
                <a:t>无单一恐惧通道普遍胜出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4572000" y="1333500"/>
            <a:ext cx="7048500" cy="4953000"/>
            <a:chOff x="4572000" y="1333500"/>
            <a:chExt cx="7048500" cy="4953000"/>
          </a:xfrm>
        </p:grpSpPr>
        <p:sp>
          <p:nvSpPr>
            <p:cNvPr id="30" name="Rectangle 30"/>
            <p:cNvSpPr/>
            <p:nvPr/>
          </p:nvSpPr>
          <p:spPr>
            <a:xfrm>
              <a:off x="4572000" y="1333500"/>
              <a:ext cx="7048500" cy="4953000"/>
            </a:xfrm>
            <a:prstGeom prst="roundRect">
              <a:avLst>
                <a:gd name="adj" fmla="val 1538"/>
              </a:avLst>
            </a:prstGeom>
            <a:solidFill>
              <a:srgbClr val="FFFFFF"/>
            </a:solidFill>
            <a:ln w="9525">
              <a:solidFill>
                <a:srgbClr val="CBD5E1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240905" y="1489710"/>
              <a:ext cx="171069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64748B"/>
                  </a:solidFill>
                  <a:latin typeface="Noto Sans CJK SC"/>
                  <a:ea typeface="Microsoft YaHei"/>
                  <a:cs typeface="Noto Sans CJK SC"/>
                </a:rPr>
                <a:t>留后验证 RMSE 热力图</a:t>
              </a:r>
            </a:p>
          </p:txBody>
        </p:sp>
        <p:pic>
          <p:nvPicPr>
            <p:cNvPr id="32" name="Image 32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762500" y="1952625"/>
              <a:ext cx="6667500" cy="4000500"/>
            </a:xfrm>
            <a:prstGeom prst="rect">
              <a:avLst/>
            </a:prstGeom>
          </p:spPr>
        </p:pic>
      </p:grpSp>
      <p:sp>
        <p:nvSpPr>
          <p:cNvPr id="34" name="TextBox 34"/>
          <p:cNvSpPr txBox="1"/>
          <p:nvPr/>
        </p:nvSpPr>
        <p:spPr>
          <a:xfrm>
            <a:off x="11241476" y="6483191"/>
            <a:ext cx="389501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94A3B8"/>
                </a:solidFill>
                <a:latin typeface="Noto Sans CJK SC"/>
                <a:ea typeface="Microsoft YaHei"/>
                <a:cs typeface="Noto Sans CJK SC"/>
              </a:rPr>
              <a:t>09 / 13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9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23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400"/>
                            </p:stCondLst>
                            <p:childTnLst>
                              <p:par>
                                <p:cTn id="2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6300"/>
                            </p:stCondLst>
                            <p:childTnLst>
                              <p:par>
                                <p:cTn id="3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5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6" grpId="0"/>
      <p:bldP spid="29" grpId="0"/>
      <p:bldP spid="33" grpId="0"/>
      <p:bldP spid="34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B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571500" y="381000"/>
            <a:ext cx="38100" cy="342900"/>
          </a:xfrm>
          <a:prstGeom prst="roundRect">
            <a:avLst>
              <a:gd name="adj" fmla="val 50000"/>
            </a:avLst>
          </a:prstGeom>
          <a:solidFill>
            <a:srgbClr val="1B3A5C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693420" y="369570"/>
            <a:ext cx="2362848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1B3A5C"/>
                </a:solidFill>
                <a:latin typeface="Noto Sans CJK SC"/>
                <a:ea typeface="Microsoft YaHei"/>
                <a:cs typeface="Noto Sans CJK SC"/>
              </a:rPr>
              <a:t>k 参数可辨识性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10565" y="724852"/>
            <a:ext cx="338709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94A3B8"/>
                </a:solidFill>
                <a:latin typeface="Noto Sans CJK SC"/>
                <a:ea typeface="Microsoft YaHei"/>
                <a:cs typeface="Noto Sans CJK SC"/>
              </a:rPr>
              <a:t>Profile Likelihood 诊断 · 预测改善 ≠ 恐惧机制可识别</a:t>
            </a:r>
          </a:p>
        </p:txBody>
      </p:sp>
      <p:sp>
        <p:nvSpPr>
          <p:cNvPr id="6" name="Line 6"/>
          <p:cNvSpPr/>
          <p:nvPr/>
        </p:nvSpPr>
        <p:spPr>
          <a:xfrm>
            <a:off x="571500" y="1000125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CBD5E1"/>
            </a:solidFill>
          </a:ln>
        </p:spPr>
      </p:sp>
      <p:grpSp>
        <p:nvGrpSpPr>
          <p:cNvPr id="11" name="Group 11"/>
          <p:cNvGrpSpPr/>
          <p:nvPr/>
        </p:nvGrpSpPr>
        <p:grpSpPr>
          <a:xfrm>
            <a:off x="741045" y="1203008"/>
            <a:ext cx="10688955" cy="1035367"/>
            <a:chOff x="741045" y="1203008"/>
            <a:chExt cx="10688955" cy="1035367"/>
          </a:xfrm>
        </p:grpSpPr>
        <p:sp>
          <p:nvSpPr>
            <p:cNvPr id="7" name="TextBox 7"/>
            <p:cNvSpPr txBox="1"/>
            <p:nvPr/>
          </p:nvSpPr>
          <p:spPr>
            <a:xfrm>
              <a:off x="741045" y="1203008"/>
              <a:ext cx="2513919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E293B"/>
                  </a:solidFill>
                  <a:latin typeface="Noto Sans CJK SC"/>
                  <a:ea typeface="Microsoft YaHei"/>
                  <a:cs typeface="Noto Sans CJK SC"/>
                </a:rPr>
                <a:t>Profile Likelihood 方法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762000" y="1571625"/>
              <a:ext cx="10668000" cy="666750"/>
            </a:xfrm>
            <a:prstGeom prst="roundRect">
              <a:avLst>
                <a:gd name="adj" fmla="val 8571"/>
              </a:avLst>
            </a:prstGeom>
            <a:solidFill>
              <a:srgbClr val="F0F3F7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032510" y="1699260"/>
              <a:ext cx="404698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E293B"/>
                  </a:solidFill>
                  <a:latin typeface="Noto Sans CJK SC"/>
                  <a:ea typeface="Microsoft YaHei"/>
                  <a:cs typeface="Noto Sans CJK SC"/>
                </a:rPr>
                <a:t>固定 k，重新优化其余 7 个参数 → 获得 profile 似然曲线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032510" y="1946910"/>
              <a:ext cx="727938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E293B"/>
                  </a:solidFill>
                  <a:latin typeface="Noto Sans CJK SC"/>
                  <a:ea typeface="Microsoft YaHei"/>
                  <a:cs typeface="Noto Sans CJK SC"/>
                </a:rPr>
                <a:t>95% 置信集 = {k : 2[ℓ(k_max) − ℓ(k)] ≤ χ²₀.₉₅(1) ≈ 3.84} · 置信集覆盖全扫描区间 = k 不可辨识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571500" y="2476500"/>
            <a:ext cx="11049000" cy="2952750"/>
            <a:chOff x="571500" y="2476500"/>
            <a:chExt cx="11049000" cy="2952750"/>
          </a:xfrm>
        </p:grpSpPr>
        <p:sp>
          <p:nvSpPr>
            <p:cNvPr id="12" name="Rectangle 12"/>
            <p:cNvSpPr/>
            <p:nvPr/>
          </p:nvSpPr>
          <p:spPr>
            <a:xfrm>
              <a:off x="571500" y="2476500"/>
              <a:ext cx="3619500" cy="2952750"/>
            </a:xfrm>
            <a:prstGeom prst="roundRect">
              <a:avLst>
                <a:gd name="adj" fmla="val 2581"/>
              </a:avLst>
            </a:prstGeom>
            <a:solidFill>
              <a:srgbClr val="FFFFFF"/>
            </a:solidFill>
            <a:ln w="9525">
              <a:solidFill>
                <a:srgbClr val="CBD5E1"/>
              </a:solidFill>
            </a:ln>
          </p:spPr>
        </p:sp>
        <p:sp>
          <p:nvSpPr>
            <p:cNvPr id="13" name="Rectangle 13"/>
            <p:cNvSpPr/>
            <p:nvPr/>
          </p:nvSpPr>
          <p:spPr>
            <a:xfrm>
              <a:off x="571500" y="2476500"/>
              <a:ext cx="3619500" cy="323850"/>
            </a:xfrm>
            <a:prstGeom prst="roundRect">
              <a:avLst>
                <a:gd name="adj" fmla="val 23529"/>
              </a:avLst>
            </a:prstGeom>
            <a:solidFill>
              <a:srgbClr val="1B3A5C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571500" y="2609850"/>
              <a:ext cx="3619500" cy="190500"/>
            </a:xfrm>
            <a:prstGeom prst="rect">
              <a:avLst/>
            </a:prstGeom>
            <a:solidFill>
              <a:srgbClr val="1B3A5C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1713683" y="2582228"/>
              <a:ext cx="133513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Noto Sans CJK SC"/>
                  <a:ea typeface="Microsoft YaHei"/>
                  <a:cs typeface="Noto Sans CJK SC"/>
                </a:rPr>
                <a:t>Isle Royale 狼−驼鹿</a:t>
              </a:r>
            </a:p>
          </p:txBody>
        </p:sp>
        <p:pic>
          <p:nvPicPr>
            <p:cNvPr id="16" name="Image 16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66750" y="2857500"/>
              <a:ext cx="3429000" cy="2286000"/>
            </a:xfrm>
            <a:prstGeom prst="rect">
              <a:avLst/>
            </a:prstGeom>
          </p:spPr>
        </p:pic>
        <p:sp>
          <p:nvSpPr>
            <p:cNvPr id="17" name="TextBox 17"/>
            <p:cNvSpPr txBox="1"/>
            <p:nvPr/>
          </p:nvSpPr>
          <p:spPr>
            <a:xfrm>
              <a:off x="1361242" y="5209699"/>
              <a:ext cx="204001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DC2626"/>
                  </a:solidFill>
                  <a:latin typeface="Noto Sans CJK SC"/>
                  <a:ea typeface="Microsoft YaHei"/>
                  <a:cs typeface="Noto Sans CJK SC"/>
                </a:rPr>
                <a:t>置信集覆盖 [0.0001, 0.5] 全区间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4286250" y="2476500"/>
              <a:ext cx="3619500" cy="2952750"/>
            </a:xfrm>
            <a:prstGeom prst="roundRect">
              <a:avLst>
                <a:gd name="adj" fmla="val 2581"/>
              </a:avLst>
            </a:prstGeom>
            <a:solidFill>
              <a:srgbClr val="FFFFFF"/>
            </a:solidFill>
            <a:ln w="9525">
              <a:solidFill>
                <a:srgbClr val="CBD5E1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4286250" y="2476500"/>
              <a:ext cx="3619500" cy="323850"/>
            </a:xfrm>
            <a:prstGeom prst="roundRect">
              <a:avLst>
                <a:gd name="adj" fmla="val 23529"/>
              </a:avLst>
            </a:prstGeom>
            <a:solidFill>
              <a:srgbClr val="2563A0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4286250" y="2609850"/>
              <a:ext cx="3619500" cy="190500"/>
            </a:xfrm>
            <a:prstGeom prst="rect">
              <a:avLst/>
            </a:prstGeom>
            <a:solidFill>
              <a:srgbClr val="2563A0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5178502" y="2582228"/>
              <a:ext cx="183499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Noto Sans CJK SC"/>
                  <a:ea typeface="Microsoft YaHei"/>
                  <a:cs typeface="Noto Sans CJK SC"/>
                </a:rPr>
                <a:t>GLERL M110 贻贝−浮游动物</a:t>
              </a:r>
            </a:p>
          </p:txBody>
        </p:sp>
        <p:pic>
          <p:nvPicPr>
            <p:cNvPr id="22" name="Image 22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381500" y="2857500"/>
              <a:ext cx="3429000" cy="2286000"/>
            </a:xfrm>
            <a:prstGeom prst="rect">
              <a:avLst/>
            </a:prstGeom>
          </p:spPr>
        </p:pic>
        <p:sp>
          <p:nvSpPr>
            <p:cNvPr id="23" name="TextBox 23"/>
            <p:cNvSpPr txBox="1"/>
            <p:nvPr/>
          </p:nvSpPr>
          <p:spPr>
            <a:xfrm>
              <a:off x="5075992" y="5209699"/>
              <a:ext cx="204001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DC2626"/>
                  </a:solidFill>
                  <a:latin typeface="Noto Sans CJK SC"/>
                  <a:ea typeface="Microsoft YaHei"/>
                  <a:cs typeface="Noto Sans CJK SC"/>
                </a:rPr>
                <a:t>置信集覆盖 [0.0001, 0.5] 全区间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8001000" y="2476500"/>
              <a:ext cx="3619500" cy="2952750"/>
            </a:xfrm>
            <a:prstGeom prst="roundRect">
              <a:avLst>
                <a:gd name="adj" fmla="val 2581"/>
              </a:avLst>
            </a:prstGeom>
            <a:solidFill>
              <a:srgbClr val="FFFFFF"/>
            </a:solidFill>
            <a:ln w="9525">
              <a:solidFill>
                <a:srgbClr val="CBD5E1"/>
              </a:solidFill>
            </a:ln>
          </p:spPr>
        </p:sp>
        <p:sp>
          <p:nvSpPr>
            <p:cNvPr id="25" name="Rectangle 25"/>
            <p:cNvSpPr/>
            <p:nvPr/>
          </p:nvSpPr>
          <p:spPr>
            <a:xfrm>
              <a:off x="8001000" y="2476500"/>
              <a:ext cx="3619500" cy="323850"/>
            </a:xfrm>
            <a:prstGeom prst="roundRect">
              <a:avLst>
                <a:gd name="adj" fmla="val 23529"/>
              </a:avLst>
            </a:prstGeom>
            <a:solidFill>
              <a:srgbClr val="4A90B8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8001000" y="2609850"/>
              <a:ext cx="3619500" cy="190500"/>
            </a:xfrm>
            <a:prstGeom prst="rect">
              <a:avLst/>
            </a:prstGeom>
            <a:solidFill>
              <a:srgbClr val="4A90B8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9106429" y="2582228"/>
              <a:ext cx="140864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Noto Sans CJK SC"/>
                  <a:ea typeface="Microsoft YaHei"/>
                  <a:cs typeface="Noto Sans CJK SC"/>
                </a:rPr>
                <a:t>TP 浮游动物均值序列</a:t>
              </a:r>
            </a:p>
          </p:txBody>
        </p:sp>
        <p:pic>
          <p:nvPicPr>
            <p:cNvPr id="28" name="Image 28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096250" y="2857500"/>
              <a:ext cx="3429000" cy="2286000"/>
            </a:xfrm>
            <a:prstGeom prst="rect">
              <a:avLst/>
            </a:prstGeom>
          </p:spPr>
        </p:pic>
        <p:sp>
          <p:nvSpPr>
            <p:cNvPr id="29" name="TextBox 29"/>
            <p:cNvSpPr txBox="1"/>
            <p:nvPr/>
          </p:nvSpPr>
          <p:spPr>
            <a:xfrm>
              <a:off x="8790742" y="5209699"/>
              <a:ext cx="204001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DC2626"/>
                  </a:solidFill>
                  <a:latin typeface="Noto Sans CJK SC"/>
                  <a:ea typeface="Microsoft YaHei"/>
                  <a:cs typeface="Noto Sans CJK SC"/>
                </a:rPr>
                <a:t>置信集覆盖 [0.0001, 0.5] 全区间</a:t>
              </a:r>
            </a:p>
          </p:txBody>
        </p:sp>
      </p:grpSp>
      <p:sp>
        <p:nvSpPr>
          <p:cNvPr id="31" name="Rectangle 31"/>
          <p:cNvSpPr/>
          <p:nvPr/>
        </p:nvSpPr>
        <p:spPr>
          <a:xfrm>
            <a:off x="762000" y="5619750"/>
            <a:ext cx="10668000" cy="523875"/>
          </a:xfrm>
          <a:prstGeom prst="roundRect">
            <a:avLst>
              <a:gd name="adj" fmla="val 14545"/>
            </a:avLst>
          </a:prstGeom>
          <a:solidFill>
            <a:srgbClr val="1B3A5C"/>
          </a:solidFill>
          <a:ln>
            <a:noFill/>
          </a:ln>
        </p:spPr>
      </p:sp>
      <p:sp>
        <p:nvSpPr>
          <p:cNvPr id="32" name="TextBox 32"/>
          <p:cNvSpPr txBox="1"/>
          <p:nvPr/>
        </p:nvSpPr>
        <p:spPr>
          <a:xfrm>
            <a:off x="4457977" y="5731192"/>
            <a:ext cx="327604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Noto Sans CJK SC"/>
                <a:ea typeface="Microsoft YaHei"/>
                <a:cs typeface="Noto Sans CJK SC"/>
              </a:rPr>
              <a:t>拟合误差低 ≠ 恐惧机制被数据可靠识别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3943898" y="5973128"/>
            <a:ext cx="430420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CBD5E1"/>
                </a:solidFill>
                <a:latin typeface="Noto Sans CJK SC"/>
                <a:ea typeface="Microsoft YaHei"/>
                <a:cs typeface="Noto Sans CJK SC"/>
              </a:rPr>
              <a:t>三序列的 k 95% 置信集均覆盖全扫描区间 → B-D 恐惧参数 k 不可辨识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1241476" y="6483191"/>
            <a:ext cx="389501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94A3B8"/>
                </a:solidFill>
                <a:latin typeface="Noto Sans CJK SC"/>
                <a:ea typeface="Microsoft YaHei"/>
                <a:cs typeface="Noto Sans CJK SC"/>
              </a:rPr>
              <a:t>10 / 13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B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571500" y="381000"/>
            <a:ext cx="38100" cy="342900"/>
          </a:xfrm>
          <a:prstGeom prst="roundRect">
            <a:avLst>
              <a:gd name="adj" fmla="val 50000"/>
            </a:avLst>
          </a:prstGeom>
          <a:solidFill>
            <a:srgbClr val="1B3A5C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693420" y="369570"/>
            <a:ext cx="3421380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1B3A5C"/>
                </a:solidFill>
                <a:latin typeface="Noto Sans CJK SC"/>
                <a:ea typeface="Microsoft YaHei"/>
                <a:cs typeface="Noto Sans CJK SC"/>
              </a:rPr>
              <a:t>跨系统恐惧抑制与讨论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10565" y="724852"/>
            <a:ext cx="459824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94A3B8"/>
                </a:solidFill>
                <a:latin typeface="Noto Sans CJK SC"/>
                <a:ea typeface="Microsoft YaHei"/>
                <a:cs typeface="Noto Sans CJK SC"/>
              </a:rPr>
              <a:t>eta_at_observed_median 按类群分布 · 预测改善 ≠ 机制真实存在的证据</a:t>
            </a:r>
          </a:p>
        </p:txBody>
      </p:sp>
      <p:sp>
        <p:nvSpPr>
          <p:cNvPr id="6" name="Line 6"/>
          <p:cNvSpPr/>
          <p:nvPr/>
        </p:nvSpPr>
        <p:spPr>
          <a:xfrm>
            <a:off x="571500" y="1000125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CBD5E1"/>
            </a:solidFill>
          </a:ln>
        </p:spPr>
      </p:sp>
      <p:grpSp>
        <p:nvGrpSpPr>
          <p:cNvPr id="11" name="Group 11"/>
          <p:cNvGrpSpPr/>
          <p:nvPr/>
        </p:nvGrpSpPr>
        <p:grpSpPr>
          <a:xfrm>
            <a:off x="571500" y="1171575"/>
            <a:ext cx="5715000" cy="3262313"/>
            <a:chOff x="571500" y="1171575"/>
            <a:chExt cx="5715000" cy="3262313"/>
          </a:xfrm>
        </p:grpSpPr>
        <p:sp>
          <p:nvSpPr>
            <p:cNvPr id="7" name="TextBox 7"/>
            <p:cNvSpPr txBox="1"/>
            <p:nvPr/>
          </p:nvSpPr>
          <p:spPr>
            <a:xfrm>
              <a:off x="742950" y="1171575"/>
              <a:ext cx="315699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E293B"/>
                  </a:solidFill>
                  <a:latin typeface="Noto Sans CJK SC"/>
                  <a:ea typeface="Microsoft YaHei"/>
                  <a:cs typeface="Noto Sans CJK SC"/>
                </a:rPr>
                <a:t>观测捕食者中位数处的恐惧抑制 η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571500" y="1476375"/>
              <a:ext cx="5715000" cy="2667000"/>
            </a:xfrm>
            <a:prstGeom prst="roundRect">
              <a:avLst>
                <a:gd name="adj" fmla="val 2857"/>
              </a:avLst>
            </a:prstGeom>
            <a:solidFill>
              <a:srgbClr val="FFFFFF"/>
            </a:solidFill>
            <a:ln w="9525">
              <a:solidFill>
                <a:srgbClr val="CBD5E1"/>
              </a:solidFill>
            </a:ln>
          </p:spPr>
        </p:sp>
        <p:pic>
          <p:nvPicPr>
            <p:cNvPr id="9" name="Image 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66750" y="1704975"/>
              <a:ext cx="5524500" cy="2209800"/>
            </a:xfrm>
            <a:prstGeom prst="rect">
              <a:avLst/>
            </a:prstGeom>
          </p:spPr>
        </p:pic>
        <p:sp>
          <p:nvSpPr>
            <p:cNvPr id="10" name="TextBox 10"/>
            <p:cNvSpPr txBox="1"/>
            <p:nvPr/>
          </p:nvSpPr>
          <p:spPr>
            <a:xfrm>
              <a:off x="1903476" y="4220528"/>
              <a:ext cx="305104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64748B"/>
                  </a:solidFill>
                  <a:latin typeface="Noto Sans CJK SC"/>
                  <a:ea typeface="Microsoft YaHei"/>
                  <a:cs typeface="Noto Sans CJK SC"/>
                </a:rPr>
                <a:t>η = k v / (1 + k v) · 在观测捕食者中位数处评估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6553200" y="1171575"/>
            <a:ext cx="5067300" cy="3262313"/>
            <a:chOff x="6553200" y="1171575"/>
            <a:chExt cx="5067300" cy="3262313"/>
          </a:xfrm>
        </p:grpSpPr>
        <p:sp>
          <p:nvSpPr>
            <p:cNvPr id="12" name="TextBox 12"/>
            <p:cNvSpPr txBox="1"/>
            <p:nvPr/>
          </p:nvSpPr>
          <p:spPr>
            <a:xfrm>
              <a:off x="6553200" y="1171575"/>
              <a:ext cx="3072979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E293B"/>
                  </a:solidFill>
                  <a:latin typeface="Noto Sans CJK SC"/>
                  <a:ea typeface="Microsoft YaHei"/>
                  <a:cs typeface="Noto Sans CJK SC"/>
                </a:rPr>
                <a:t>B-D 相对 Baseline 的 RMSE 改善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6572250" y="1476375"/>
              <a:ext cx="5048250" cy="2667000"/>
            </a:xfrm>
            <a:prstGeom prst="roundRect">
              <a:avLst>
                <a:gd name="adj" fmla="val 2857"/>
              </a:avLst>
            </a:prstGeom>
            <a:solidFill>
              <a:srgbClr val="FFFFFF"/>
            </a:solidFill>
            <a:ln w="9525">
              <a:solidFill>
                <a:srgbClr val="CBD5E1"/>
              </a:solidFill>
            </a:ln>
          </p:spPr>
        </p:sp>
        <p:pic>
          <p:nvPicPr>
            <p:cNvPr id="14" name="Image 14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130899" y="1571625"/>
              <a:ext cx="3930952" cy="2476500"/>
            </a:xfrm>
            <a:prstGeom prst="rect">
              <a:avLst/>
            </a:prstGeom>
          </p:spPr>
        </p:pic>
        <p:sp>
          <p:nvSpPr>
            <p:cNvPr id="15" name="TextBox 15"/>
            <p:cNvSpPr txBox="1"/>
            <p:nvPr/>
          </p:nvSpPr>
          <p:spPr>
            <a:xfrm>
              <a:off x="7665363" y="4220528"/>
              <a:ext cx="286202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64748B"/>
                  </a:solidFill>
                  <a:latin typeface="Noto Sans CJK SC"/>
                  <a:ea typeface="Microsoft YaHei"/>
                  <a:cs typeface="Noto Sans CJK SC"/>
                </a:rPr>
                <a:t>负值 = B-D 预测更优 · 对大多数序列改善有限</a:t>
              </a:r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742950" y="4552950"/>
            <a:ext cx="4028599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1E293B"/>
                </a:solidFill>
                <a:latin typeface="Noto Sans CJK SC"/>
                <a:ea typeface="Microsoft YaHei"/>
                <a:cs typeface="Noto Sans CJK SC"/>
              </a:rPr>
              <a:t>预测改善不能作为恐惧机制真实存在的证据</a:t>
            </a:r>
          </a:p>
        </p:txBody>
      </p:sp>
      <p:grpSp>
        <p:nvGrpSpPr>
          <p:cNvPr id="34" name="Group 34"/>
          <p:cNvGrpSpPr/>
          <p:nvPr/>
        </p:nvGrpSpPr>
        <p:grpSpPr>
          <a:xfrm>
            <a:off x="762000" y="4905375"/>
            <a:ext cx="10668000" cy="769144"/>
            <a:chOff x="762000" y="4905375"/>
            <a:chExt cx="10668000" cy="769144"/>
          </a:xfrm>
        </p:grpSpPr>
        <p:sp>
          <p:nvSpPr>
            <p:cNvPr id="18" name="Rectangle 18"/>
            <p:cNvSpPr/>
            <p:nvPr/>
          </p:nvSpPr>
          <p:spPr>
            <a:xfrm>
              <a:off x="762000" y="4905375"/>
              <a:ext cx="2571750" cy="762000"/>
            </a:xfrm>
            <a:prstGeom prst="roundRect">
              <a:avLst>
                <a:gd name="adj" fmla="val 7500"/>
              </a:avLst>
            </a:prstGeom>
            <a:solidFill>
              <a:srgbClr val="F0F3F7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939165" y="5030152"/>
              <a:ext cx="82056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2563A0"/>
                  </a:solidFill>
                  <a:latin typeface="Noto Sans CJK SC"/>
                  <a:ea typeface="Microsoft YaHei"/>
                  <a:cs typeface="Noto Sans CJK SC"/>
                </a:rPr>
                <a:t>1. 参数惩罚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39165" y="5258752"/>
              <a:ext cx="181889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E293B"/>
                  </a:solidFill>
                  <a:latin typeface="Noto Sans CJK SC"/>
                  <a:ea typeface="Microsoft YaHei"/>
                  <a:cs typeface="Noto Sans CJK SC"/>
                </a:rPr>
                <a:t>AICc 下 Baseline 最优 13/15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40118" y="5476399"/>
              <a:ext cx="171497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4748B"/>
                  </a:solidFill>
                  <a:latin typeface="Noto Sans CJK SC"/>
                  <a:ea typeface="Microsoft YaHei"/>
                  <a:cs typeface="Noto Sans CJK SC"/>
                </a:rPr>
                <a:t>多参数改善预测未必超出期望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3524250" y="4905375"/>
              <a:ext cx="2571750" cy="762000"/>
            </a:xfrm>
            <a:prstGeom prst="roundRect">
              <a:avLst>
                <a:gd name="adj" fmla="val 7500"/>
              </a:avLst>
            </a:prstGeom>
            <a:solidFill>
              <a:srgbClr val="F0F3F7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3701415" y="5030152"/>
              <a:ext cx="94553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2563A0"/>
                  </a:solidFill>
                  <a:latin typeface="Noto Sans CJK SC"/>
                  <a:ea typeface="Microsoft YaHei"/>
                  <a:cs typeface="Noto Sans CJK SC"/>
                </a:rPr>
                <a:t>2. k 不可辨识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3701415" y="5258752"/>
              <a:ext cx="195891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E293B"/>
                  </a:solidFill>
                  <a:latin typeface="Noto Sans CJK SC"/>
                  <a:ea typeface="Microsoft YaHei"/>
                  <a:cs typeface="Noto Sans CJK SC"/>
                </a:rPr>
                <a:t>Profile 95% 置信集覆盖全范围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3702368" y="5476399"/>
              <a:ext cx="160446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4748B"/>
                  </a:solidFill>
                  <a:latin typeface="Noto Sans CJK SC"/>
                  <a:ea typeface="Microsoft YaHei"/>
                  <a:cs typeface="Noto Sans CJK SC"/>
                </a:rPr>
                <a:t>多种 k 值得到相同拟合质量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6286500" y="4905375"/>
              <a:ext cx="2571750" cy="762000"/>
            </a:xfrm>
            <a:prstGeom prst="roundRect">
              <a:avLst>
                <a:gd name="adj" fmla="val 7500"/>
              </a:avLst>
            </a:prstGeom>
            <a:solidFill>
              <a:srgbClr val="F0F3F7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463665" y="5030152"/>
              <a:ext cx="126162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2563A0"/>
                  </a:solidFill>
                  <a:latin typeface="Noto Sans CJK SC"/>
                  <a:ea typeface="Microsoft YaHei"/>
                  <a:cs typeface="Noto Sans CJK SC"/>
                </a:rPr>
                <a:t>3. 机制路径依赖性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463665" y="5258752"/>
              <a:ext cx="170688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E293B"/>
                  </a:solidFill>
                  <a:latin typeface="Noto Sans CJK SC"/>
                  <a:ea typeface="Microsoft YaHei"/>
                  <a:cs typeface="Noto Sans CJK SC"/>
                </a:rPr>
                <a:t>不同恐惧通道预测结果矛盾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464618" y="5476399"/>
              <a:ext cx="106489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4748B"/>
                  </a:solidFill>
                  <a:latin typeface="Noto Sans CJK SC"/>
                  <a:ea typeface="Microsoft YaHei"/>
                  <a:cs typeface="Noto Sans CJK SC"/>
                </a:rPr>
                <a:t>无机制无关的答案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9048750" y="4905375"/>
              <a:ext cx="2381250" cy="762000"/>
            </a:xfrm>
            <a:prstGeom prst="roundRect">
              <a:avLst>
                <a:gd name="adj" fmla="val 7500"/>
              </a:avLst>
            </a:prstGeom>
            <a:solidFill>
              <a:srgbClr val="F0F3F7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9225915" y="5030152"/>
              <a:ext cx="134983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2563A0"/>
                  </a:solidFill>
                  <a:latin typeface="Noto Sans CJK SC"/>
                  <a:ea typeface="Microsoft YaHei"/>
                  <a:cs typeface="Noto Sans CJK SC"/>
                </a:rPr>
                <a:t>4. Peacor 文献误用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9225915" y="5258752"/>
              <a:ext cx="179789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E293B"/>
                  </a:solidFill>
                  <a:latin typeface="Noto Sans CJK SC"/>
                  <a:ea typeface="Microsoft YaHei"/>
                  <a:cs typeface="Noto Sans CJK SC"/>
                </a:rPr>
                <a:t>TMIE/NCE 仅为研究类型计数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9226868" y="5476399"/>
              <a:ext cx="145494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4748B"/>
                  </a:solidFill>
                  <a:latin typeface="Noto Sans CJK SC"/>
                  <a:ea typeface="Microsoft YaHei"/>
                  <a:cs typeface="Noto Sans CJK SC"/>
                </a:rPr>
                <a:t>非效应量，不可作为先验</a:t>
              </a:r>
            </a:p>
          </p:txBody>
        </p:sp>
      </p:grpSp>
      <p:sp>
        <p:nvSpPr>
          <p:cNvPr id="35" name="TextBox 35"/>
          <p:cNvSpPr txBox="1"/>
          <p:nvPr/>
        </p:nvSpPr>
        <p:spPr>
          <a:xfrm>
            <a:off x="11241476" y="6483191"/>
            <a:ext cx="389501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94A3B8"/>
                </a:solidFill>
                <a:latin typeface="Noto Sans CJK SC"/>
                <a:ea typeface="Microsoft YaHei"/>
                <a:cs typeface="Noto Sans CJK SC"/>
              </a:rPr>
              <a:t>11 / 13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B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571500" y="381000"/>
            <a:ext cx="38100" cy="342900"/>
          </a:xfrm>
          <a:prstGeom prst="roundRect">
            <a:avLst>
              <a:gd name="adj" fmla="val 50000"/>
            </a:avLst>
          </a:prstGeom>
          <a:solidFill>
            <a:srgbClr val="1B3A5C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693420" y="369570"/>
            <a:ext cx="733044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1B3A5C"/>
                </a:solidFill>
                <a:latin typeface="Noto Sans CJK SC"/>
                <a:ea typeface="Microsoft YaHei"/>
                <a:cs typeface="Noto Sans CJK SC"/>
              </a:rPr>
              <a:t>结论</a:t>
            </a:r>
          </a:p>
        </p:txBody>
      </p:sp>
      <p:sp>
        <p:nvSpPr>
          <p:cNvPr id="5" name="Line 5"/>
          <p:cNvSpPr/>
          <p:nvPr/>
        </p:nvSpPr>
        <p:spPr>
          <a:xfrm>
            <a:off x="571500" y="809625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CBD5E1"/>
            </a:solidFill>
          </a:ln>
        </p:spPr>
      </p:sp>
      <p:grpSp>
        <p:nvGrpSpPr>
          <p:cNvPr id="46" name="Group 46"/>
          <p:cNvGrpSpPr/>
          <p:nvPr/>
        </p:nvGrpSpPr>
        <p:grpSpPr>
          <a:xfrm>
            <a:off x="762000" y="1047750"/>
            <a:ext cx="10668000" cy="4667250"/>
            <a:chOff x="762000" y="1047750"/>
            <a:chExt cx="10668000" cy="4667250"/>
          </a:xfrm>
        </p:grpSpPr>
        <p:sp>
          <p:nvSpPr>
            <p:cNvPr id="6" name="Rectangle 6"/>
            <p:cNvSpPr/>
            <p:nvPr/>
          </p:nvSpPr>
          <p:spPr>
            <a:xfrm>
              <a:off x="762000" y="1047750"/>
              <a:ext cx="5143500" cy="1524000"/>
            </a:xfrm>
            <a:prstGeom prst="roundRect">
              <a:avLst>
                <a:gd name="adj" fmla="val 5000"/>
              </a:avLst>
            </a:prstGeom>
            <a:solidFill>
              <a:srgbClr val="FFFFFF"/>
            </a:solidFill>
            <a:ln w="9525">
              <a:solidFill>
                <a:srgbClr val="CBD5E1"/>
              </a:solidFill>
            </a:ln>
          </p:spPr>
        </p:sp>
        <p:sp>
          <p:nvSpPr>
            <p:cNvPr id="7" name="Ellipse 7"/>
            <p:cNvSpPr/>
            <p:nvPr/>
          </p:nvSpPr>
          <p:spPr>
            <a:xfrm>
              <a:off x="857250" y="1238250"/>
              <a:ext cx="381000" cy="381000"/>
            </a:xfrm>
            <a:prstGeom prst="ellipse">
              <a:avLst/>
            </a:prstGeom>
            <a:solidFill>
              <a:srgbClr val="1B3A5C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970943" y="1333500"/>
              <a:ext cx="153614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Georgia"/>
                  <a:ea typeface="SimSun"/>
                  <a:cs typeface="Georgia"/>
                </a:rPr>
                <a:t>1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409700" y="1247775"/>
              <a:ext cx="3219998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E293B"/>
                  </a:solidFill>
                  <a:latin typeface="Noto Sans CJK SC"/>
                  <a:ea typeface="Microsoft YaHei"/>
                  <a:cs typeface="Noto Sans CJK SC"/>
                </a:rPr>
                <a:t>20% 等效抑制下所有机制保持共存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414462" y="1593056"/>
              <a:ext cx="326898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4748B"/>
                  </a:solidFill>
                  <a:latin typeface="Noto Sans CJK SC"/>
                  <a:ea typeface="Microsoft YaHei"/>
                  <a:cs typeface="Noto Sans CJK SC"/>
                </a:rPr>
                <a:t>31/31 φ 情景猎物与捕食者共存 · 11 个高 φ 情景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414462" y="1831181"/>
              <a:ext cx="302895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4748B"/>
                  </a:solidFill>
                  <a:latin typeface="Noto Sans CJK SC"/>
                  <a:ea typeface="Microsoft YaHei"/>
                  <a:cs typeface="Noto Sans CJK SC"/>
                </a:rPr>
                <a:t>未通过长期收敛诊断，但保守积分确认未灭绝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414462" y="2116931"/>
              <a:ext cx="137874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4748B"/>
                  </a:solidFill>
                  <a:latin typeface="Noto Sans CJK SC"/>
                  <a:ea typeface="Microsoft YaHei"/>
                  <a:cs typeface="Noto Sans CJK SC"/>
                </a:rPr>
                <a:t>恐惧不导致种群灭绝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6286500" y="1047750"/>
              <a:ext cx="5143500" cy="1524000"/>
            </a:xfrm>
            <a:prstGeom prst="roundRect">
              <a:avLst>
                <a:gd name="adj" fmla="val 5000"/>
              </a:avLst>
            </a:prstGeom>
            <a:solidFill>
              <a:srgbClr val="FFFFFF"/>
            </a:solidFill>
            <a:ln w="9525">
              <a:solidFill>
                <a:srgbClr val="CBD5E1"/>
              </a:solidFill>
            </a:ln>
          </p:spPr>
        </p:sp>
        <p:sp>
          <p:nvSpPr>
            <p:cNvPr id="14" name="Ellipse 14"/>
            <p:cNvSpPr/>
            <p:nvPr/>
          </p:nvSpPr>
          <p:spPr>
            <a:xfrm>
              <a:off x="6381750" y="1238250"/>
              <a:ext cx="381000" cy="381000"/>
            </a:xfrm>
            <a:prstGeom prst="ellipse">
              <a:avLst/>
            </a:prstGeom>
            <a:solidFill>
              <a:srgbClr val="2563A0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495443" y="1333500"/>
              <a:ext cx="153614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Georgia"/>
                  <a:ea typeface="SimSun"/>
                  <a:cs typeface="Georgia"/>
                </a:rPr>
                <a:t>2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934200" y="1247775"/>
              <a:ext cx="255841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E293B"/>
                  </a:solidFill>
                  <a:latin typeface="Noto Sans CJK SC"/>
                  <a:ea typeface="Microsoft YaHei"/>
                  <a:cs typeface="Noto Sans CJK SC"/>
                </a:rPr>
                <a:t>恐惧的种群效应取决于通道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938962" y="1593056"/>
              <a:ext cx="347150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4748B"/>
                  </a:solidFill>
                  <a:latin typeface="Noto Sans CJK SC"/>
                  <a:ea typeface="Microsoft YaHei"/>
                  <a:cs typeface="Noto Sans CJK SC"/>
                </a:rPr>
                <a:t>繁殖抑制 ↓捕食者 ~17% · 觅食/处理 ↑捕食者 ↑猎物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938962" y="1831181"/>
              <a:ext cx="280392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4748B"/>
                  </a:solidFill>
                  <a:latin typeface="Noto Sans CJK SC"/>
                  <a:ea typeface="Microsoft YaHei"/>
                  <a:cs typeface="Noto Sans CJK SC"/>
                </a:rPr>
                <a:t>B-D ↓ 两者 ~30%（但绝对密度不可比较）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938962" y="2116931"/>
              <a:ext cx="289393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4748B"/>
                  </a:solidFill>
                  <a:latin typeface="Noto Sans CJK SC"/>
                  <a:ea typeface="Microsoft YaHei"/>
                  <a:cs typeface="Noto Sans CJK SC"/>
                </a:rPr>
                <a:t>"恐惧增加还是减少种群"无机制无关的答案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762000" y="2762250"/>
              <a:ext cx="5143500" cy="1524000"/>
            </a:xfrm>
            <a:prstGeom prst="roundRect">
              <a:avLst>
                <a:gd name="adj" fmla="val 5000"/>
              </a:avLst>
            </a:prstGeom>
            <a:solidFill>
              <a:srgbClr val="FFFFFF"/>
            </a:solidFill>
            <a:ln w="9525">
              <a:solidFill>
                <a:srgbClr val="CBD5E1"/>
              </a:solidFill>
            </a:ln>
          </p:spPr>
        </p:sp>
        <p:sp>
          <p:nvSpPr>
            <p:cNvPr id="21" name="Ellipse 21"/>
            <p:cNvSpPr/>
            <p:nvPr/>
          </p:nvSpPr>
          <p:spPr>
            <a:xfrm>
              <a:off x="857250" y="2952750"/>
              <a:ext cx="381000" cy="381000"/>
            </a:xfrm>
            <a:prstGeom prst="ellipse">
              <a:avLst/>
            </a:prstGeom>
            <a:solidFill>
              <a:srgbClr val="1B3A5C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970943" y="3048000"/>
              <a:ext cx="153614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Georgia"/>
                  <a:ea typeface="SimSun"/>
                  <a:cs typeface="Georgia"/>
                </a:rPr>
                <a:t>3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409700" y="2962275"/>
              <a:ext cx="3083481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E293B"/>
                  </a:solidFill>
                  <a:latin typeface="Noto Sans CJK SC"/>
                  <a:ea typeface="Microsoft YaHei"/>
                  <a:cs typeface="Noto Sans CJK SC"/>
                </a:rPr>
                <a:t>B-D 留后预测最优但 AICc 不支持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414462" y="3307556"/>
              <a:ext cx="30739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4748B"/>
                  </a:solidFill>
                  <a:latin typeface="Noto Sans CJK SC"/>
                  <a:ea typeface="Microsoft YaHei"/>
                  <a:cs typeface="Noto Sans CJK SC"/>
                </a:rPr>
                <a:t>留后验证 B-D 单独最优 9/15 · Baseline 3/15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414462" y="3545681"/>
              <a:ext cx="357651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4748B"/>
                  </a:solidFill>
                  <a:latin typeface="Noto Sans CJK SC"/>
                  <a:ea typeface="Microsoft YaHei"/>
                  <a:cs typeface="Noto Sans CJK SC"/>
                </a:rPr>
                <a:t>AICc Baseline 最优 13/15 · 复杂度惩罚抵消预测优势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414462" y="3831431"/>
              <a:ext cx="273641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4748B"/>
                  </a:solidFill>
                  <a:latin typeface="Noto Sans CJK SC"/>
                  <a:ea typeface="Microsoft YaHei"/>
                  <a:cs typeface="Noto Sans CJK SC"/>
                </a:rPr>
                <a:t>GLERL 三模型留后与训练 RMSE 完全并列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6286500" y="2762250"/>
              <a:ext cx="5143500" cy="1524000"/>
            </a:xfrm>
            <a:prstGeom prst="roundRect">
              <a:avLst>
                <a:gd name="adj" fmla="val 5000"/>
              </a:avLst>
            </a:prstGeom>
            <a:solidFill>
              <a:srgbClr val="FFFFFF"/>
            </a:solidFill>
            <a:ln w="9525">
              <a:solidFill>
                <a:srgbClr val="CBD5E1"/>
              </a:solidFill>
            </a:ln>
          </p:spPr>
        </p:sp>
        <p:sp>
          <p:nvSpPr>
            <p:cNvPr id="28" name="Ellipse 28"/>
            <p:cNvSpPr/>
            <p:nvPr/>
          </p:nvSpPr>
          <p:spPr>
            <a:xfrm>
              <a:off x="6381750" y="2952750"/>
              <a:ext cx="381000" cy="381000"/>
            </a:xfrm>
            <a:prstGeom prst="ellipse">
              <a:avLst/>
            </a:prstGeom>
            <a:solidFill>
              <a:srgbClr val="2563A0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495443" y="3048000"/>
              <a:ext cx="153614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Georgia"/>
                  <a:ea typeface="SimSun"/>
                  <a:cs typeface="Georgia"/>
                </a:rPr>
                <a:t>4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934200" y="2962275"/>
              <a:ext cx="364005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E293B"/>
                  </a:solidFill>
                  <a:latin typeface="Noto Sans CJK SC"/>
                  <a:ea typeface="Microsoft YaHei"/>
                  <a:cs typeface="Noto Sans CJK SC"/>
                </a:rPr>
                <a:t>k 参数不可辨识 · 预测改善 ≠ 机制识别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938962" y="3307556"/>
              <a:ext cx="347900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4748B"/>
                  </a:solidFill>
                  <a:latin typeface="Noto Sans CJK SC"/>
                  <a:ea typeface="Microsoft YaHei"/>
                  <a:cs typeface="Noto Sans CJK SC"/>
                </a:rPr>
                <a:t>Profile 95% 置信集覆盖全扫描区间 [0.0001, 0.5]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938962" y="3545681"/>
              <a:ext cx="323897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4748B"/>
                  </a:solidFill>
                  <a:latin typeface="Noto Sans CJK SC"/>
                  <a:ea typeface="Microsoft YaHei"/>
                  <a:cs typeface="Noto Sans CJK SC"/>
                </a:rPr>
                <a:t>15 条序列的低 RMSE 不能证明恐惧机制真实存在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938962" y="3831431"/>
              <a:ext cx="321647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4748B"/>
                  </a:solidFill>
                  <a:latin typeface="Noto Sans CJK SC"/>
                  <a:ea typeface="Microsoft YaHei"/>
                  <a:cs typeface="Noto Sans CJK SC"/>
                </a:rPr>
                <a:t>多参数 B-D 模型可能仅通过额外自由度改善拟合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762000" y="4476750"/>
              <a:ext cx="5143500" cy="1238250"/>
            </a:xfrm>
            <a:prstGeom prst="roundRect">
              <a:avLst>
                <a:gd name="adj" fmla="val 6154"/>
              </a:avLst>
            </a:prstGeom>
            <a:solidFill>
              <a:srgbClr val="FFFFFF"/>
            </a:solidFill>
            <a:ln w="9525">
              <a:solidFill>
                <a:srgbClr val="CBD5E1"/>
              </a:solidFill>
            </a:ln>
          </p:spPr>
        </p:sp>
        <p:sp>
          <p:nvSpPr>
            <p:cNvPr id="35" name="Ellipse 35"/>
            <p:cNvSpPr/>
            <p:nvPr/>
          </p:nvSpPr>
          <p:spPr>
            <a:xfrm>
              <a:off x="857250" y="4667250"/>
              <a:ext cx="381000" cy="381000"/>
            </a:xfrm>
            <a:prstGeom prst="ellipse">
              <a:avLst/>
            </a:prstGeom>
            <a:solidFill>
              <a:srgbClr val="1B3A5C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970943" y="4762500"/>
              <a:ext cx="153614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Georgia"/>
                  <a:ea typeface="SimSun"/>
                  <a:cs typeface="Georgia"/>
                </a:rPr>
                <a:t>5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409700" y="4676775"/>
              <a:ext cx="3871079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E293B"/>
                  </a:solidFill>
                  <a:latin typeface="Noto Sans CJK SC"/>
                  <a:ea typeface="Microsoft YaHei"/>
                  <a:cs typeface="Noto Sans CJK SC"/>
                </a:rPr>
                <a:t>Peacor TMIE/NCE 文献不可作为效应先验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414462" y="5022056"/>
              <a:ext cx="345650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4748B"/>
                  </a:solidFill>
                  <a:latin typeface="Noto Sans CJK SC"/>
                  <a:ea typeface="Microsoft YaHei"/>
                  <a:cs typeface="Noto Sans CJK SC"/>
                </a:rPr>
                <a:t>TMIE 和 NCE 仅为研究类型计数 · 不包含效应量信息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414462" y="5288756"/>
              <a:ext cx="392906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4748B"/>
                  </a:solidFill>
                  <a:latin typeface="Noto Sans CJK SC"/>
                  <a:ea typeface="Microsoft YaHei"/>
                  <a:cs typeface="Noto Sans CJK SC"/>
                </a:rPr>
                <a:t>生态文献普遍引用此类数据作为恐惧证据，存在系统性误用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6286500" y="4476750"/>
              <a:ext cx="5143500" cy="1238250"/>
            </a:xfrm>
            <a:prstGeom prst="roundRect">
              <a:avLst>
                <a:gd name="adj" fmla="val 6154"/>
              </a:avLst>
            </a:prstGeom>
            <a:solidFill>
              <a:srgbClr val="FFFFFF"/>
            </a:solidFill>
            <a:ln w="9525">
              <a:solidFill>
                <a:srgbClr val="CBD5E1"/>
              </a:solidFill>
            </a:ln>
          </p:spPr>
        </p:sp>
        <p:sp>
          <p:nvSpPr>
            <p:cNvPr id="41" name="Ellipse 41"/>
            <p:cNvSpPr/>
            <p:nvPr/>
          </p:nvSpPr>
          <p:spPr>
            <a:xfrm>
              <a:off x="6381750" y="4667250"/>
              <a:ext cx="381000" cy="381000"/>
            </a:xfrm>
            <a:prstGeom prst="ellipse">
              <a:avLst/>
            </a:prstGeom>
            <a:solidFill>
              <a:srgbClr val="2563A0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6495443" y="4762500"/>
              <a:ext cx="153614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Georgia"/>
                  <a:ea typeface="SimSun"/>
                  <a:cs typeface="Georgia"/>
                </a:rPr>
                <a:t>6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934200" y="4676775"/>
              <a:ext cx="2768441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E293B"/>
                  </a:solidFill>
                  <a:latin typeface="Noto Sans CJK SC"/>
                  <a:ea typeface="Microsoft YaHei"/>
                  <a:cs typeface="Noto Sans CJK SC"/>
                </a:rPr>
                <a:t>证据边界方法应用于恐惧建模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6938962" y="5022056"/>
              <a:ext cx="350901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4748B"/>
                  </a:solidFill>
                  <a:latin typeface="Noto Sans CJK SC"/>
                  <a:ea typeface="Microsoft YaHei"/>
                  <a:cs typeface="Noto Sans CJK SC"/>
                </a:rPr>
                <a:t>区分"模型能否预测轨迹"与"数据能否识别恐惧机制"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6938962" y="5288756"/>
              <a:ext cx="362902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4748B"/>
                  </a:solidFill>
                  <a:latin typeface="Noto Sans CJK SC"/>
                  <a:ea typeface="Microsoft YaHei"/>
                  <a:cs typeface="Noto Sans CJK SC"/>
                </a:rPr>
                <a:t>复杂性、可辨识性、通道依赖性三者构成三联检验框架</a:t>
              </a:r>
            </a:p>
          </p:txBody>
        </p:sp>
      </p:grpSp>
      <p:sp>
        <p:nvSpPr>
          <p:cNvPr id="47" name="TextBox 47"/>
          <p:cNvSpPr txBox="1"/>
          <p:nvPr/>
        </p:nvSpPr>
        <p:spPr>
          <a:xfrm>
            <a:off x="11241476" y="6483191"/>
            <a:ext cx="389501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94A3B8"/>
                </a:solidFill>
                <a:latin typeface="Noto Sans CJK SC"/>
                <a:ea typeface="Microsoft YaHei"/>
                <a:cs typeface="Noto Sans CJK SC"/>
              </a:rPr>
              <a:t>12 / 13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9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23" dur="4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46" grpId="0"/>
      <p:bldP spid="47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B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571500" y="381000"/>
            <a:ext cx="38100" cy="342900"/>
          </a:xfrm>
          <a:prstGeom prst="roundRect">
            <a:avLst>
              <a:gd name="adj" fmla="val 50000"/>
            </a:avLst>
          </a:prstGeom>
          <a:solidFill>
            <a:srgbClr val="1B3A5C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693420" y="369570"/>
            <a:ext cx="2077212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1B3A5C"/>
                </a:solidFill>
                <a:latin typeface="Noto Sans CJK SC"/>
                <a:ea typeface="Microsoft YaHei"/>
                <a:cs typeface="Noto Sans CJK SC"/>
              </a:rPr>
              <a:t>核心结果汇总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10565" y="724852"/>
            <a:ext cx="298804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94A3B8"/>
                </a:solidFill>
                <a:latin typeface="Noto Sans CJK SC"/>
                <a:ea typeface="Microsoft YaHei"/>
                <a:cs typeface="Noto Sans CJK SC"/>
              </a:rPr>
              <a:t>三模型与七模型的定量比较 · 证据边界三联检验</a:t>
            </a:r>
          </a:p>
        </p:txBody>
      </p:sp>
      <p:sp>
        <p:nvSpPr>
          <p:cNvPr id="6" name="Line 6"/>
          <p:cNvSpPr/>
          <p:nvPr/>
        </p:nvSpPr>
        <p:spPr>
          <a:xfrm>
            <a:off x="571500" y="1000125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CBD5E1"/>
            </a:solidFill>
          </a:ln>
        </p:spPr>
      </p:sp>
      <p:grpSp>
        <p:nvGrpSpPr>
          <p:cNvPr id="73" name="Group 73"/>
          <p:cNvGrpSpPr/>
          <p:nvPr/>
        </p:nvGrpSpPr>
        <p:grpSpPr>
          <a:xfrm>
            <a:off x="571500" y="1190625"/>
            <a:ext cx="11049000" cy="3429000"/>
            <a:chOff x="571500" y="1190625"/>
            <a:chExt cx="11049000" cy="3429000"/>
          </a:xfrm>
        </p:grpSpPr>
        <p:sp>
          <p:nvSpPr>
            <p:cNvPr id="7" name="Rectangle 7"/>
            <p:cNvSpPr/>
            <p:nvPr/>
          </p:nvSpPr>
          <p:spPr>
            <a:xfrm>
              <a:off x="571500" y="1190625"/>
              <a:ext cx="2286000" cy="457200"/>
            </a:xfrm>
            <a:prstGeom prst="rect">
              <a:avLst/>
            </a:prstGeom>
            <a:solidFill>
              <a:srgbClr val="1B3A5C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341263" y="1338739"/>
              <a:ext cx="746474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75" b="1" dirty="0">
                  <a:solidFill>
                    <a:srgbClr val="FFFFFF"/>
                  </a:solidFill>
                  <a:latin typeface="Noto Sans CJK SC"/>
                  <a:ea typeface="Microsoft YaHei"/>
                  <a:cs typeface="Noto Sans CJK SC"/>
                </a:rPr>
                <a:t>评价指标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2857500" y="1190625"/>
              <a:ext cx="2286000" cy="457200"/>
            </a:xfrm>
            <a:prstGeom prst="rect">
              <a:avLst/>
            </a:prstGeom>
            <a:solidFill>
              <a:srgbClr val="1B3A5C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3636189" y="1338739"/>
              <a:ext cx="728622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75" b="1" dirty="0">
                  <a:solidFill>
                    <a:srgbClr val="FFFFFF"/>
                  </a:solidFill>
                  <a:latin typeface="Noto Sans CJK SC"/>
                  <a:ea typeface="Microsoft YaHei"/>
                  <a:cs typeface="Noto Sans CJK SC"/>
                </a:rPr>
                <a:t>Baseline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5143500" y="1190625"/>
              <a:ext cx="2286000" cy="457200"/>
            </a:xfrm>
            <a:prstGeom prst="rect">
              <a:avLst/>
            </a:prstGeom>
            <a:solidFill>
              <a:srgbClr val="2563A0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5694573" y="1338739"/>
              <a:ext cx="1183854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75" b="1" dirty="0">
                  <a:solidFill>
                    <a:srgbClr val="FFFFFF"/>
                  </a:solidFill>
                  <a:latin typeface="Noto Sans CJK SC"/>
                  <a:ea typeface="Microsoft YaHei"/>
                  <a:cs typeface="Noto Sans CJK SC"/>
                </a:rPr>
                <a:t>Fear-Memory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7429500" y="1190625"/>
              <a:ext cx="2286000" cy="457200"/>
            </a:xfrm>
            <a:prstGeom prst="rect">
              <a:avLst/>
            </a:prstGeom>
            <a:solidFill>
              <a:srgbClr val="4A90B8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8110002" y="1338739"/>
              <a:ext cx="924997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75" b="1" dirty="0">
                  <a:solidFill>
                    <a:srgbClr val="FFFFFF"/>
                  </a:solidFill>
                  <a:latin typeface="Noto Sans CJK SC"/>
                  <a:ea typeface="Microsoft YaHei"/>
                  <a:cs typeface="Noto Sans CJK SC"/>
                </a:rPr>
                <a:t>B-D + Fear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9715500" y="1190625"/>
              <a:ext cx="1905000" cy="457200"/>
            </a:xfrm>
            <a:prstGeom prst="rect">
              <a:avLst/>
            </a:prstGeom>
            <a:solidFill>
              <a:srgbClr val="1B3A5C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10473285" y="1338739"/>
              <a:ext cx="389430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75" b="1" dirty="0">
                  <a:solidFill>
                    <a:srgbClr val="FFFFFF"/>
                  </a:solidFill>
                  <a:latin typeface="Noto Sans CJK SC"/>
                  <a:ea typeface="Microsoft YaHei"/>
                  <a:cs typeface="Noto Sans CJK SC"/>
                </a:rPr>
                <a:t>含义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571500" y="1647825"/>
              <a:ext cx="2286000" cy="495300"/>
            </a:xfrm>
            <a:prstGeom prst="rect">
              <a:avLst/>
            </a:prstGeom>
            <a:solidFill>
              <a:srgbClr val="F8FAFC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43140" y="1823085"/>
              <a:ext cx="1942719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E293B"/>
                  </a:solidFill>
                  <a:latin typeface="Noto Sans CJK SC"/>
                  <a:ea typeface="Microsoft YaHei"/>
                  <a:cs typeface="Noto Sans CJK SC"/>
                </a:rPr>
                <a:t>留后验证单独最优 (3模型)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2857500" y="1647825"/>
              <a:ext cx="2286000" cy="495300"/>
            </a:xfrm>
            <a:prstGeom prst="rect">
              <a:avLst/>
            </a:prstGeom>
            <a:solidFill>
              <a:srgbClr val="F8FAFC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3650390" y="1716405"/>
              <a:ext cx="700221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rgbClr val="1E293B"/>
                  </a:solidFill>
                  <a:latin typeface="Georgia"/>
                  <a:ea typeface="SimSun"/>
                  <a:cs typeface="Georgia"/>
                </a:rPr>
                <a:t>3/15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5143500" y="1647825"/>
              <a:ext cx="2286000" cy="495300"/>
            </a:xfrm>
            <a:prstGeom prst="rect">
              <a:avLst/>
            </a:prstGeom>
            <a:solidFill>
              <a:srgbClr val="F8FAFC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5936390" y="1716405"/>
              <a:ext cx="700221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rgbClr val="1E293B"/>
                  </a:solidFill>
                  <a:latin typeface="Georgia"/>
                  <a:ea typeface="SimSun"/>
                  <a:cs typeface="Georgia"/>
                </a:rPr>
                <a:t>2/15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7429500" y="1647825"/>
              <a:ext cx="2286000" cy="495300"/>
            </a:xfrm>
            <a:prstGeom prst="rect">
              <a:avLst/>
            </a:prstGeom>
            <a:solidFill>
              <a:srgbClr val="F8FAFC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8222390" y="1716405"/>
              <a:ext cx="700221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rgbClr val="DC2626"/>
                  </a:solidFill>
                  <a:latin typeface="Georgia"/>
                  <a:ea typeface="SimSun"/>
                  <a:cs typeface="Georgia"/>
                </a:rPr>
                <a:t>9/15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9715500" y="1647825"/>
              <a:ext cx="1905000" cy="495300"/>
            </a:xfrm>
            <a:prstGeom prst="rect">
              <a:avLst/>
            </a:prstGeom>
            <a:solidFill>
              <a:srgbClr val="F8FAFC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10238113" y="1839278"/>
              <a:ext cx="85977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64748B"/>
                  </a:solidFill>
                  <a:latin typeface="Noto Sans CJK SC"/>
                  <a:ea typeface="Microsoft YaHei"/>
                  <a:cs typeface="Noto Sans CJK SC"/>
                </a:rPr>
                <a:t>B-D 预测最优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571500" y="2143125"/>
              <a:ext cx="2286000" cy="495300"/>
            </a:xfrm>
            <a:prstGeom prst="rect">
              <a:avLst/>
            </a:prstGeom>
            <a:solidFill>
              <a:srgbClr val="F0F3F7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1043178" y="2318385"/>
              <a:ext cx="134264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E293B"/>
                  </a:solidFill>
                  <a:latin typeface="Noto Sans CJK SC"/>
                  <a:ea typeface="Microsoft YaHei"/>
                  <a:cs typeface="Noto Sans CJK SC"/>
                </a:rPr>
                <a:t>AICc 最优 (3模型)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2857500" y="2143125"/>
              <a:ext cx="2286000" cy="495300"/>
            </a:xfrm>
            <a:prstGeom prst="rect">
              <a:avLst/>
            </a:prstGeom>
            <a:solidFill>
              <a:srgbClr val="F0F3F7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3569529" y="2211705"/>
              <a:ext cx="861941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rgbClr val="DC2626"/>
                  </a:solidFill>
                  <a:latin typeface="Georgia"/>
                  <a:ea typeface="SimSun"/>
                  <a:cs typeface="Georgia"/>
                </a:rPr>
                <a:t>13/15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5143500" y="2143125"/>
              <a:ext cx="2286000" cy="495300"/>
            </a:xfrm>
            <a:prstGeom prst="rect">
              <a:avLst/>
            </a:prstGeom>
            <a:solidFill>
              <a:srgbClr val="F0F3F7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5936390" y="2211705"/>
              <a:ext cx="700221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rgbClr val="1E293B"/>
                  </a:solidFill>
                  <a:latin typeface="Georgia"/>
                  <a:ea typeface="SimSun"/>
                  <a:cs typeface="Georgia"/>
                </a:rPr>
                <a:t>2/15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7429500" y="2143125"/>
              <a:ext cx="2286000" cy="495300"/>
            </a:xfrm>
            <a:prstGeom prst="rect">
              <a:avLst/>
            </a:prstGeom>
            <a:solidFill>
              <a:srgbClr val="F0F3F7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8222390" y="2211705"/>
              <a:ext cx="700221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rgbClr val="1E293B"/>
                  </a:solidFill>
                  <a:latin typeface="Georgia"/>
                  <a:ea typeface="SimSun"/>
                  <a:cs typeface="Georgia"/>
                </a:rPr>
                <a:t>0/15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9715500" y="2143125"/>
              <a:ext cx="1905000" cy="495300"/>
            </a:xfrm>
            <a:prstGeom prst="rect">
              <a:avLst/>
            </a:prstGeom>
            <a:solidFill>
              <a:srgbClr val="F0F3F7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9954578" y="2334578"/>
              <a:ext cx="142684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64748B"/>
                  </a:solidFill>
                  <a:latin typeface="Noto Sans CJK SC"/>
                  <a:ea typeface="Microsoft YaHei"/>
                  <a:cs typeface="Noto Sans CJK SC"/>
                </a:rPr>
                <a:t>简单模型获复杂度支持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571500" y="2638425"/>
              <a:ext cx="2286000" cy="495300"/>
            </a:xfrm>
            <a:prstGeom prst="rect">
              <a:avLst/>
            </a:prstGeom>
            <a:solidFill>
              <a:srgbClr val="F8FAFC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43140" y="2813685"/>
              <a:ext cx="1942719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E293B"/>
                  </a:solidFill>
                  <a:latin typeface="Noto Sans CJK SC"/>
                  <a:ea typeface="Microsoft YaHei"/>
                  <a:cs typeface="Noto Sans CJK SC"/>
                </a:rPr>
                <a:t>留后验证单独最优 (7模型)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2857500" y="2638425"/>
              <a:ext cx="2286000" cy="495300"/>
            </a:xfrm>
            <a:prstGeom prst="rect">
              <a:avLst/>
            </a:prstGeom>
            <a:solidFill>
              <a:srgbClr val="F8FAFC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3650390" y="2707005"/>
              <a:ext cx="700221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rgbClr val="1E293B"/>
                  </a:solidFill>
                  <a:latin typeface="Georgia"/>
                  <a:ea typeface="SimSun"/>
                  <a:cs typeface="Georgia"/>
                </a:rPr>
                <a:t>2/15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5143500" y="2638425"/>
              <a:ext cx="2286000" cy="495300"/>
            </a:xfrm>
            <a:prstGeom prst="rect">
              <a:avLst/>
            </a:prstGeom>
            <a:solidFill>
              <a:srgbClr val="F8FAFC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5936390" y="2707005"/>
              <a:ext cx="700221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rgbClr val="1E293B"/>
                  </a:solidFill>
                  <a:latin typeface="Georgia"/>
                  <a:ea typeface="SimSun"/>
                  <a:cs typeface="Georgia"/>
                </a:rPr>
                <a:t>2/15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7429500" y="2638425"/>
              <a:ext cx="2286000" cy="495300"/>
            </a:xfrm>
            <a:prstGeom prst="rect">
              <a:avLst/>
            </a:prstGeom>
            <a:solidFill>
              <a:srgbClr val="F8FAFC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8222390" y="2707005"/>
              <a:ext cx="700221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rgbClr val="DC2626"/>
                  </a:solidFill>
                  <a:latin typeface="Georgia"/>
                  <a:ea typeface="SimSun"/>
                  <a:cs typeface="Georgia"/>
                </a:rPr>
                <a:t>6/15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9715500" y="2638425"/>
              <a:ext cx="1905000" cy="495300"/>
            </a:xfrm>
            <a:prstGeom prst="rect">
              <a:avLst/>
            </a:prstGeom>
            <a:solidFill>
              <a:srgbClr val="F8FAFC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10024586" y="2829878"/>
              <a:ext cx="128682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64748B"/>
                  </a:solidFill>
                  <a:latin typeface="Noto Sans CJK SC"/>
                  <a:ea typeface="Microsoft YaHei"/>
                  <a:cs typeface="Noto Sans CJK SC"/>
                </a:rPr>
                <a:t>无单一通道普遍胜出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571500" y="3133725"/>
              <a:ext cx="2286000" cy="495300"/>
            </a:xfrm>
            <a:prstGeom prst="rect">
              <a:avLst/>
            </a:prstGeom>
            <a:solidFill>
              <a:srgbClr val="F0F3F7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1311212" y="3308985"/>
              <a:ext cx="806577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E293B"/>
                  </a:solidFill>
                  <a:latin typeface="Noto Sans CJK SC"/>
                  <a:ea typeface="Microsoft YaHei"/>
                  <a:cs typeface="Noto Sans CJK SC"/>
                </a:rPr>
                <a:t>k 可辨识性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2857500" y="3133725"/>
              <a:ext cx="2286000" cy="495300"/>
            </a:xfrm>
            <a:prstGeom prst="rect">
              <a:avLst/>
            </a:prstGeom>
            <a:solidFill>
              <a:srgbClr val="F0F3F7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3933849" y="3283268"/>
              <a:ext cx="13330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64748B"/>
                  </a:solidFill>
                  <a:latin typeface="Noto Sans CJK SC"/>
                  <a:ea typeface="Microsoft YaHei"/>
                  <a:cs typeface="Noto Sans CJK SC"/>
                </a:rPr>
                <a:t>—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5143500" y="3133725"/>
              <a:ext cx="2286000" cy="495300"/>
            </a:xfrm>
            <a:prstGeom prst="rect">
              <a:avLst/>
            </a:prstGeom>
            <a:solidFill>
              <a:srgbClr val="F0F3F7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6219849" y="3283268"/>
              <a:ext cx="13330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64748B"/>
                  </a:solidFill>
                  <a:latin typeface="Noto Sans CJK SC"/>
                  <a:ea typeface="Microsoft YaHei"/>
                  <a:cs typeface="Noto Sans CJK SC"/>
                </a:rPr>
                <a:t>—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7429500" y="3133725"/>
              <a:ext cx="2286000" cy="495300"/>
            </a:xfrm>
            <a:prstGeom prst="rect">
              <a:avLst/>
            </a:prstGeom>
            <a:solidFill>
              <a:srgbClr val="F0F3F7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8177308" y="3283268"/>
              <a:ext cx="79038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DC2626"/>
                  </a:solidFill>
                  <a:latin typeface="Noto Sans CJK SC"/>
                  <a:ea typeface="Microsoft YaHei"/>
                  <a:cs typeface="Noto Sans CJK SC"/>
                </a:rPr>
                <a:t>不可辨识</a:t>
              </a: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9715500" y="3133725"/>
              <a:ext cx="1905000" cy="495300"/>
            </a:xfrm>
            <a:prstGeom prst="rect">
              <a:avLst/>
            </a:prstGeom>
            <a:solidFill>
              <a:srgbClr val="F0F3F7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9944076" y="3325178"/>
              <a:ext cx="144784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64748B"/>
                  </a:solidFill>
                  <a:latin typeface="Noto Sans CJK SC"/>
                  <a:ea typeface="Microsoft YaHei"/>
                  <a:cs typeface="Noto Sans CJK SC"/>
                </a:rPr>
                <a:t>拟合误差低 ≠ 机制识别</a:t>
              </a:r>
            </a:p>
          </p:txBody>
        </p:sp>
        <p:sp>
          <p:nvSpPr>
            <p:cNvPr id="57" name="Rectangle 57"/>
            <p:cNvSpPr/>
            <p:nvPr/>
          </p:nvSpPr>
          <p:spPr>
            <a:xfrm>
              <a:off x="571500" y="3629025"/>
              <a:ext cx="2286000" cy="495300"/>
            </a:xfrm>
            <a:prstGeom prst="rect">
              <a:avLst/>
            </a:prstGeom>
            <a:solidFill>
              <a:srgbClr val="F8FAFC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1139190" y="3804285"/>
              <a:ext cx="115062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E293B"/>
                  </a:solidFill>
                  <a:latin typeface="Noto Sans CJK SC"/>
                  <a:ea typeface="Microsoft YaHei"/>
                  <a:cs typeface="Noto Sans CJK SC"/>
                </a:rPr>
                <a:t>等效抑制下共存</a:t>
              </a:r>
            </a:p>
          </p:txBody>
        </p:sp>
        <p:sp>
          <p:nvSpPr>
            <p:cNvPr id="59" name="Rectangle 59"/>
            <p:cNvSpPr/>
            <p:nvPr/>
          </p:nvSpPr>
          <p:spPr>
            <a:xfrm>
              <a:off x="2857500" y="3629025"/>
              <a:ext cx="2286000" cy="495300"/>
            </a:xfrm>
            <a:prstGeom prst="rect">
              <a:avLst/>
            </a:prstGeom>
            <a:solidFill>
              <a:srgbClr val="F8FAFC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3933849" y="3778568"/>
              <a:ext cx="13330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22C55E"/>
                  </a:solidFill>
                  <a:latin typeface="Noto Sans CJK SC"/>
                  <a:ea typeface="Microsoft YaHei"/>
                  <a:cs typeface="Noto Sans CJK SC"/>
                </a:rPr>
                <a:t>✓</a:t>
              </a:r>
            </a:p>
          </p:txBody>
        </p:sp>
        <p:sp>
          <p:nvSpPr>
            <p:cNvPr id="61" name="Rectangle 61"/>
            <p:cNvSpPr/>
            <p:nvPr/>
          </p:nvSpPr>
          <p:spPr>
            <a:xfrm>
              <a:off x="5143500" y="3629025"/>
              <a:ext cx="2286000" cy="495300"/>
            </a:xfrm>
            <a:prstGeom prst="rect">
              <a:avLst/>
            </a:prstGeom>
            <a:solidFill>
              <a:srgbClr val="F8FAFC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5846302" y="3778568"/>
              <a:ext cx="880396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22C55E"/>
                  </a:solidFill>
                  <a:latin typeface="Noto Sans CJK SC"/>
                  <a:ea typeface="Microsoft YaHei"/>
                  <a:cs typeface="Noto Sans CJK SC"/>
                </a:rPr>
                <a:t>✓ (31/31)</a:t>
              </a:r>
            </a:p>
          </p:txBody>
        </p:sp>
        <p:sp>
          <p:nvSpPr>
            <p:cNvPr id="63" name="Rectangle 63"/>
            <p:cNvSpPr/>
            <p:nvPr/>
          </p:nvSpPr>
          <p:spPr>
            <a:xfrm>
              <a:off x="7429500" y="3629025"/>
              <a:ext cx="2286000" cy="495300"/>
            </a:xfrm>
            <a:prstGeom prst="rect">
              <a:avLst/>
            </a:prstGeom>
            <a:solidFill>
              <a:srgbClr val="F8FAFC"/>
            </a:solidFill>
            <a:ln>
              <a:noFill/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8505849" y="3778568"/>
              <a:ext cx="13330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64748B"/>
                  </a:solidFill>
                  <a:latin typeface="Noto Sans CJK SC"/>
                  <a:ea typeface="Microsoft YaHei"/>
                  <a:cs typeface="Noto Sans CJK SC"/>
                </a:rPr>
                <a:t>—</a:t>
              </a:r>
            </a:p>
          </p:txBody>
        </p:sp>
        <p:sp>
          <p:nvSpPr>
            <p:cNvPr id="65" name="Rectangle 65"/>
            <p:cNvSpPr/>
            <p:nvPr/>
          </p:nvSpPr>
          <p:spPr>
            <a:xfrm>
              <a:off x="9715500" y="3629025"/>
              <a:ext cx="1905000" cy="495300"/>
            </a:xfrm>
            <a:prstGeom prst="rect">
              <a:avLst/>
            </a:prstGeom>
            <a:solidFill>
              <a:srgbClr val="F8FAFC"/>
            </a:solidFill>
            <a:ln>
              <a:noFill/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10164604" y="3820478"/>
              <a:ext cx="100679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64748B"/>
                  </a:solidFill>
                  <a:latin typeface="Noto Sans CJK SC"/>
                  <a:ea typeface="Microsoft YaHei"/>
                  <a:cs typeface="Noto Sans CJK SC"/>
                </a:rPr>
                <a:t>恐惧不灭绝种群</a:t>
              </a:r>
            </a:p>
          </p:txBody>
        </p:sp>
        <p:sp>
          <p:nvSpPr>
            <p:cNvPr id="67" name="Rectangle 67"/>
            <p:cNvSpPr/>
            <p:nvPr/>
          </p:nvSpPr>
          <p:spPr>
            <a:xfrm>
              <a:off x="571500" y="4124325"/>
              <a:ext cx="2286000" cy="495300"/>
            </a:xfrm>
            <a:prstGeom prst="rect">
              <a:avLst/>
            </a:prstGeom>
            <a:solidFill>
              <a:srgbClr val="F0F3F7"/>
            </a:solidFill>
            <a:ln>
              <a:noFill/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1139190" y="4299585"/>
              <a:ext cx="115062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E293B"/>
                  </a:solidFill>
                  <a:latin typeface="Noto Sans CJK SC"/>
                  <a:ea typeface="Microsoft YaHei"/>
                  <a:cs typeface="Noto Sans CJK SC"/>
                </a:rPr>
                <a:t>机制路径依赖性</a:t>
              </a:r>
            </a:p>
          </p:txBody>
        </p:sp>
        <p:sp>
          <p:nvSpPr>
            <p:cNvPr id="69" name="Rectangle 69"/>
            <p:cNvSpPr/>
            <p:nvPr/>
          </p:nvSpPr>
          <p:spPr>
            <a:xfrm>
              <a:off x="2857500" y="4124325"/>
              <a:ext cx="6858000" cy="495300"/>
            </a:xfrm>
            <a:prstGeom prst="rect">
              <a:avLst/>
            </a:prstGeom>
            <a:solidFill>
              <a:srgbClr val="F0F3F7"/>
            </a:solidFill>
            <a:ln>
              <a:noFill/>
            </a:ln>
          </p:spPr>
        </p:sp>
        <p:sp>
          <p:nvSpPr>
            <p:cNvPr id="70" name="TextBox 70"/>
            <p:cNvSpPr txBox="1"/>
            <p:nvPr/>
          </p:nvSpPr>
          <p:spPr>
            <a:xfrm>
              <a:off x="4719066" y="4290060"/>
              <a:ext cx="313486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DC2626"/>
                  </a:solidFill>
                  <a:latin typeface="Noto Sans CJK SC"/>
                  <a:ea typeface="Microsoft YaHei"/>
                  <a:cs typeface="Noto Sans CJK SC"/>
                </a:rPr>
                <a:t>"恐惧增加还是减少种群" 无机制无关的答案</a:t>
              </a:r>
            </a:p>
          </p:txBody>
        </p:sp>
        <p:sp>
          <p:nvSpPr>
            <p:cNvPr id="71" name="Rectangle 71"/>
            <p:cNvSpPr/>
            <p:nvPr/>
          </p:nvSpPr>
          <p:spPr>
            <a:xfrm>
              <a:off x="9715500" y="4124325"/>
              <a:ext cx="1905000" cy="495300"/>
            </a:xfrm>
            <a:prstGeom prst="rect">
              <a:avLst/>
            </a:prstGeom>
            <a:solidFill>
              <a:srgbClr val="F0F3F7"/>
            </a:solidFill>
            <a:ln>
              <a:noFill/>
            </a:ln>
          </p:spPr>
        </p:sp>
        <p:sp>
          <p:nvSpPr>
            <p:cNvPr id="72" name="TextBox 72"/>
            <p:cNvSpPr txBox="1"/>
            <p:nvPr/>
          </p:nvSpPr>
          <p:spPr>
            <a:xfrm>
              <a:off x="10164604" y="4315778"/>
              <a:ext cx="100679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64748B"/>
                  </a:solidFill>
                  <a:latin typeface="Noto Sans CJK SC"/>
                  <a:ea typeface="Microsoft YaHei"/>
                  <a:cs typeface="Noto Sans CJK SC"/>
                </a:rPr>
                <a:t>六通道结论矛盾</a:t>
              </a:r>
            </a:p>
          </p:txBody>
        </p:sp>
      </p:grpSp>
      <p:grpSp>
        <p:nvGrpSpPr>
          <p:cNvPr id="84" name="Group 84"/>
          <p:cNvGrpSpPr/>
          <p:nvPr/>
        </p:nvGrpSpPr>
        <p:grpSpPr>
          <a:xfrm>
            <a:off x="742950" y="4886325"/>
            <a:ext cx="10687050" cy="1019175"/>
            <a:chOff x="742950" y="4886325"/>
            <a:chExt cx="10687050" cy="1019175"/>
          </a:xfrm>
        </p:grpSpPr>
        <p:sp>
          <p:nvSpPr>
            <p:cNvPr id="74" name="TextBox 74"/>
            <p:cNvSpPr txBox="1"/>
            <p:nvPr/>
          </p:nvSpPr>
          <p:spPr>
            <a:xfrm>
              <a:off x="742950" y="4886325"/>
              <a:ext cx="2138362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E293B"/>
                  </a:solidFill>
                  <a:latin typeface="Noto Sans CJK SC"/>
                  <a:ea typeface="Microsoft YaHei"/>
                  <a:cs typeface="Noto Sans CJK SC"/>
                </a:rPr>
                <a:t>证据边界三联检验框架</a:t>
              </a:r>
            </a:p>
          </p:txBody>
        </p:sp>
        <p:sp>
          <p:nvSpPr>
            <p:cNvPr id="75" name="Rectangle 75"/>
            <p:cNvSpPr/>
            <p:nvPr/>
          </p:nvSpPr>
          <p:spPr>
            <a:xfrm>
              <a:off x="762000" y="5238750"/>
              <a:ext cx="3429000" cy="666750"/>
            </a:xfrm>
            <a:prstGeom prst="roundRect">
              <a:avLst>
                <a:gd name="adj" fmla="val 11429"/>
              </a:avLst>
            </a:prstGeom>
            <a:solidFill>
              <a:srgbClr val="F0F3F7"/>
            </a:solidFill>
            <a:ln>
              <a:noFill/>
            </a:ln>
          </p:spPr>
        </p:sp>
        <p:sp>
          <p:nvSpPr>
            <p:cNvPr id="76" name="TextBox 76"/>
            <p:cNvSpPr txBox="1"/>
            <p:nvPr/>
          </p:nvSpPr>
          <p:spPr>
            <a:xfrm>
              <a:off x="2041208" y="5375910"/>
              <a:ext cx="870585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2563A0"/>
                  </a:solidFill>
                  <a:latin typeface="Noto Sans CJK SC"/>
                  <a:ea typeface="Microsoft YaHei"/>
                  <a:cs typeface="Noto Sans CJK SC"/>
                </a:rPr>
                <a:t>复杂性校正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1707070" y="5639752"/>
              <a:ext cx="153885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64748B"/>
                  </a:solidFill>
                  <a:latin typeface="Noto Sans CJK SC"/>
                  <a:ea typeface="Microsoft YaHei"/>
                  <a:cs typeface="Noto Sans CJK SC"/>
                </a:rPr>
                <a:t>AICc / BIC 惩罚额外参数</a:t>
              </a:r>
            </a:p>
          </p:txBody>
        </p:sp>
        <p:sp>
          <p:nvSpPr>
            <p:cNvPr id="78" name="Rectangle 78"/>
            <p:cNvSpPr/>
            <p:nvPr/>
          </p:nvSpPr>
          <p:spPr>
            <a:xfrm>
              <a:off x="4381500" y="5238750"/>
              <a:ext cx="3429000" cy="666750"/>
            </a:xfrm>
            <a:prstGeom prst="roundRect">
              <a:avLst>
                <a:gd name="adj" fmla="val 11429"/>
              </a:avLst>
            </a:prstGeom>
            <a:solidFill>
              <a:srgbClr val="F0F3F7"/>
            </a:solidFill>
            <a:ln>
              <a:noFill/>
            </a:ln>
          </p:spPr>
        </p:sp>
        <p:sp>
          <p:nvSpPr>
            <p:cNvPr id="79" name="TextBox 79"/>
            <p:cNvSpPr txBox="1"/>
            <p:nvPr/>
          </p:nvSpPr>
          <p:spPr>
            <a:xfrm>
              <a:off x="5576697" y="5375910"/>
              <a:ext cx="103860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2563A0"/>
                  </a:solidFill>
                  <a:latin typeface="Noto Sans CJK SC"/>
                  <a:ea typeface="Microsoft YaHei"/>
                  <a:cs typeface="Noto Sans CJK SC"/>
                </a:rPr>
                <a:t>可辨识性诊断</a:t>
              </a: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5011531" y="5639752"/>
              <a:ext cx="216893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64748B"/>
                  </a:solidFill>
                  <a:latin typeface="Noto Sans CJK SC"/>
                  <a:ea typeface="Microsoft YaHei"/>
                  <a:cs typeface="Noto Sans CJK SC"/>
                </a:rPr>
                <a:t>Profile likelihood · 参数触边检测</a:t>
              </a:r>
            </a:p>
          </p:txBody>
        </p:sp>
        <p:sp>
          <p:nvSpPr>
            <p:cNvPr id="81" name="Rectangle 81"/>
            <p:cNvSpPr/>
            <p:nvPr/>
          </p:nvSpPr>
          <p:spPr>
            <a:xfrm>
              <a:off x="8001000" y="5238750"/>
              <a:ext cx="3429000" cy="666750"/>
            </a:xfrm>
            <a:prstGeom prst="roundRect">
              <a:avLst>
                <a:gd name="adj" fmla="val 11429"/>
              </a:avLst>
            </a:prstGeom>
            <a:solidFill>
              <a:srgbClr val="F0F3F7"/>
            </a:solidFill>
            <a:ln>
              <a:noFill/>
            </a:ln>
          </p:spPr>
        </p:sp>
        <p:sp>
          <p:nvSpPr>
            <p:cNvPr id="82" name="TextBox 82"/>
            <p:cNvSpPr txBox="1"/>
            <p:nvPr/>
          </p:nvSpPr>
          <p:spPr>
            <a:xfrm>
              <a:off x="9112186" y="5375910"/>
              <a:ext cx="1206627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2563A0"/>
                  </a:solidFill>
                  <a:latin typeface="Noto Sans CJK SC"/>
                  <a:ea typeface="Microsoft YaHei"/>
                  <a:cs typeface="Noto Sans CJK SC"/>
                </a:rPr>
                <a:t>通道依赖性审查</a:t>
              </a:r>
            </a:p>
          </p:txBody>
        </p:sp>
        <p:sp>
          <p:nvSpPr>
            <p:cNvPr id="83" name="TextBox 83"/>
            <p:cNvSpPr txBox="1"/>
            <p:nvPr/>
          </p:nvSpPr>
          <p:spPr>
            <a:xfrm>
              <a:off x="8851559" y="5639752"/>
              <a:ext cx="172788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64748B"/>
                  </a:solidFill>
                  <a:latin typeface="Noto Sans CJK SC"/>
                  <a:ea typeface="Microsoft YaHei"/>
                  <a:cs typeface="Noto Sans CJK SC"/>
                </a:rPr>
                <a:t>多通道对照 · 文献来源审查</a:t>
              </a:r>
            </a:p>
          </p:txBody>
        </p:sp>
      </p:grpSp>
      <p:sp>
        <p:nvSpPr>
          <p:cNvPr id="85" name="TextBox 85"/>
          <p:cNvSpPr txBox="1"/>
          <p:nvPr/>
        </p:nvSpPr>
        <p:spPr>
          <a:xfrm>
            <a:off x="11241476" y="6483191"/>
            <a:ext cx="389501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94A3B8"/>
                </a:solidFill>
                <a:latin typeface="Noto Sans CJK SC"/>
                <a:ea typeface="Microsoft YaHei"/>
                <a:cs typeface="Noto Sans CJK SC"/>
              </a:rPr>
              <a:t>13 / 13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5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7" dur="4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400"/>
                            </p:stCondLst>
                            <p:childTnLst>
                              <p:par>
                                <p:cTn id="29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31" dur="4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6300"/>
                            </p:stCondLst>
                            <p:childTnLst>
                              <p:par>
                                <p:cTn id="3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6" grpId="0"/>
      <p:bldP spid="73" grpId="0"/>
      <p:bldP spid="84" grpId="0"/>
      <p:bldP spid="85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13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2026-06-10T07:53:34Z</dcterms:created>
  <dcterms:modified xsi:type="dcterms:W3CDTF">2026-06-10T07:53:34Z</dcterms:modified>
  <cp:category/>
  <cp:contentStatus/>
</cp:coreProperties>
</file>